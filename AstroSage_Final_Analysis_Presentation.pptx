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Lat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EB09BC-1F69-498C-B192-AAF41872FB54}">
  <a:tblStyle styleId="{64EB09BC-1F69-498C-B192-AAF41872FB5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6.xml"/><Relationship Id="rId44" Type="http://schemas.openxmlformats.org/officeDocument/2006/relationships/font" Target="fonts/Lato-boldItalic.fntdata"/><Relationship Id="rId21" Type="http://schemas.openxmlformats.org/officeDocument/2006/relationships/slide" Target="slides/slide15.xml"/><Relationship Id="rId43" Type="http://schemas.openxmlformats.org/officeDocument/2006/relationships/font" Target="fonts/Lato-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7dc1380c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7dc1380c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7dc1380c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7dc1380c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7dc1380c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7dc1380c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7dc1380c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7dc1380c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7dc1380c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7dc1380c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083413c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083413c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7dc1380c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7dc1380c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7dc1380c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7dc1380c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e93c977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e93c977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97dc1380c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97dc1380c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eec85a63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9eec85a63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7dc1380c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7dc1380c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7dc1380c3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7dc1380c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7dc1380c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7dc1380c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e93c9774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e93c9774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7dc1380c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7dc1380c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7dc1380c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7dc1380c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e93c9774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e93c9774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7dc1380c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7dc1380c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e93c9774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e93c9774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7dc1380c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97dc1380c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e93c9774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e93c9774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e93c9774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e93c9774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7dc1380c3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97dc1380c3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7dc1380c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97dc1380c3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7dc1380c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7dc1380c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e93c9774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e93c9774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97dc1380c3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97dc1380c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7dc1380c3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7dc1380c3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7dc1380c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7dc1380c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7dc1380c3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7dc1380c3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97dc1380c3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97dc1380c3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7dc1380c3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7dc1380c3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572000" y="941200"/>
            <a:ext cx="4572000" cy="2627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500">
                <a:solidFill>
                  <a:srgbClr val="1155CC"/>
                </a:solidFill>
              </a:rPr>
              <a:t>AstroSage Analysis</a:t>
            </a:r>
            <a:endParaRPr sz="3500">
              <a:solidFill>
                <a:srgbClr val="1155CC"/>
              </a:solidFill>
            </a:endParaRPr>
          </a:p>
          <a:p>
            <a:pPr indent="0" lvl="0" marL="0" rtl="0" algn="ctr">
              <a:spcBef>
                <a:spcPts val="0"/>
              </a:spcBef>
              <a:spcAft>
                <a:spcPts val="0"/>
              </a:spcAft>
              <a:buNone/>
            </a:pPr>
            <a:r>
              <a:t/>
            </a:r>
            <a:endParaRPr sz="1400">
              <a:solidFill>
                <a:srgbClr val="0000FF"/>
              </a:solidFill>
            </a:endParaRPr>
          </a:p>
          <a:p>
            <a:pPr indent="0" lvl="0" marL="0" rtl="0" algn="ctr">
              <a:spcBef>
                <a:spcPts val="0"/>
              </a:spcBef>
              <a:spcAft>
                <a:spcPts val="0"/>
              </a:spcAft>
              <a:buNone/>
            </a:pPr>
            <a:r>
              <a:rPr lang="en" sz="1900">
                <a:solidFill>
                  <a:srgbClr val="38761D"/>
                </a:solidFill>
              </a:rPr>
              <a:t>by</a:t>
            </a:r>
            <a:endParaRPr sz="1900">
              <a:solidFill>
                <a:srgbClr val="38761D"/>
              </a:solidFill>
            </a:endParaRPr>
          </a:p>
          <a:p>
            <a:pPr indent="0" lvl="0" marL="0" rtl="0" algn="ctr">
              <a:spcBef>
                <a:spcPts val="0"/>
              </a:spcBef>
              <a:spcAft>
                <a:spcPts val="0"/>
              </a:spcAft>
              <a:buNone/>
            </a:pPr>
            <a:r>
              <a:t/>
            </a:r>
            <a:endParaRPr sz="1400">
              <a:solidFill>
                <a:srgbClr val="0000FF"/>
              </a:solidFill>
            </a:endParaRPr>
          </a:p>
          <a:p>
            <a:pPr indent="0" lvl="0" marL="0" rtl="0" algn="ctr">
              <a:lnSpc>
                <a:spcPct val="115000"/>
              </a:lnSpc>
              <a:spcBef>
                <a:spcPts val="0"/>
              </a:spcBef>
              <a:spcAft>
                <a:spcPts val="0"/>
              </a:spcAft>
              <a:buNone/>
            </a:pPr>
            <a:r>
              <a:rPr lang="en" sz="2500"/>
              <a:t>- </a:t>
            </a:r>
            <a:r>
              <a:rPr lang="en" sz="2500">
                <a:solidFill>
                  <a:srgbClr val="CC0000"/>
                </a:solidFill>
              </a:rPr>
              <a:t>A. Raja Vishwanath</a:t>
            </a:r>
            <a:endParaRPr sz="2500">
              <a:solidFill>
                <a:srgbClr val="CC0000"/>
              </a:solidFill>
            </a:endParaRPr>
          </a:p>
          <a:p>
            <a:pPr indent="0" lvl="0" marL="0" rtl="0" algn="ctr">
              <a:lnSpc>
                <a:spcPct val="115000"/>
              </a:lnSpc>
              <a:spcBef>
                <a:spcPts val="0"/>
              </a:spcBef>
              <a:spcAft>
                <a:spcPts val="0"/>
              </a:spcAft>
              <a:buNone/>
            </a:pPr>
            <a:r>
              <a:rPr lang="en" sz="2100">
                <a:solidFill>
                  <a:srgbClr val="38761D"/>
                </a:solidFill>
              </a:rPr>
              <a:t>(25/10/2025)</a:t>
            </a:r>
            <a:endParaRPr sz="2100">
              <a:solidFill>
                <a:srgbClr val="38761D"/>
              </a:solidFill>
            </a:endParaRPr>
          </a:p>
        </p:txBody>
      </p:sp>
      <p:sp>
        <p:nvSpPr>
          <p:cNvPr id="55" name="Google Shape;55;p13"/>
          <p:cNvSpPr/>
          <p:nvPr/>
        </p:nvSpPr>
        <p:spPr>
          <a:xfrm>
            <a:off x="309300" y="441050"/>
            <a:ext cx="4061100" cy="4202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 name="Google Shape;56;p13" title="AstroSage Logo.jpg"/>
          <p:cNvPicPr preferRelativeResize="0"/>
          <p:nvPr/>
        </p:nvPicPr>
        <p:blipFill>
          <a:blip r:embed="rId3">
            <a:alphaModFix/>
          </a:blip>
          <a:stretch>
            <a:fillRect/>
          </a:stretch>
        </p:blipFill>
        <p:spPr>
          <a:xfrm>
            <a:off x="472688" y="674938"/>
            <a:ext cx="3734324" cy="37343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548875" y="445025"/>
            <a:ext cx="8283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520">
                <a:solidFill>
                  <a:srgbClr val="E69138"/>
                </a:solidFill>
              </a:rPr>
              <a:t>Goal of the Analysis</a:t>
            </a:r>
            <a:endParaRPr b="1" sz="2520">
              <a:solidFill>
                <a:srgbClr val="E69138"/>
              </a:solidFill>
            </a:endParaRPr>
          </a:p>
        </p:txBody>
      </p:sp>
      <p:sp>
        <p:nvSpPr>
          <p:cNvPr id="62" name="Google Shape;62;p14"/>
          <p:cNvSpPr txBox="1"/>
          <p:nvPr>
            <p:ph idx="1" type="body"/>
          </p:nvPr>
        </p:nvSpPr>
        <p:spPr>
          <a:xfrm>
            <a:off x="548875" y="1152475"/>
            <a:ext cx="5298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600"/>
              <a:t>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endParaRPr sz="1600"/>
          </a:p>
          <a:p>
            <a:pPr indent="0" lvl="0" marL="0" rtl="0" algn="l">
              <a:spcBef>
                <a:spcPts val="1200"/>
              </a:spcBef>
              <a:spcAft>
                <a:spcPts val="1200"/>
              </a:spcAft>
              <a:buNone/>
            </a:pPr>
            <a:r>
              <a:t/>
            </a:r>
            <a:endParaRPr/>
          </a:p>
        </p:txBody>
      </p:sp>
      <p:pic>
        <p:nvPicPr>
          <p:cNvPr id="63" name="Google Shape;63;p14" title="goal.png"/>
          <p:cNvPicPr preferRelativeResize="0"/>
          <p:nvPr/>
        </p:nvPicPr>
        <p:blipFill>
          <a:blip r:embed="rId3">
            <a:alphaModFix/>
          </a:blip>
          <a:stretch>
            <a:fillRect/>
          </a:stretch>
        </p:blipFill>
        <p:spPr>
          <a:xfrm>
            <a:off x="6570925" y="1731825"/>
            <a:ext cx="1867225" cy="1782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02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69138"/>
                </a:solidFill>
              </a:rPr>
              <a:t>About AstroSage</a:t>
            </a:r>
            <a:endParaRPr b="1">
              <a:solidFill>
                <a:srgbClr val="E69138"/>
              </a:solidFill>
            </a:endParaRPr>
          </a:p>
        </p:txBody>
      </p:sp>
      <p:sp>
        <p:nvSpPr>
          <p:cNvPr id="69" name="Google Shape;69;p15"/>
          <p:cNvSpPr txBox="1"/>
          <p:nvPr>
            <p:ph idx="1" type="body"/>
          </p:nvPr>
        </p:nvSpPr>
        <p:spPr>
          <a:xfrm>
            <a:off x="182275" y="774750"/>
            <a:ext cx="8883300" cy="43689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AstroSage is India’s leading online astrology platform offering real-time consultations via chat and call. It provides services like horoscope generation, kundli matching, tarot reading, numerology, and palmistry.</a:t>
            </a:r>
            <a:endParaRPr sz="1600"/>
          </a:p>
          <a:p>
            <a:pPr indent="-330200" lvl="0" marL="457200" rtl="0" algn="l">
              <a:lnSpc>
                <a:spcPct val="150000"/>
              </a:lnSpc>
              <a:spcBef>
                <a:spcPts val="0"/>
              </a:spcBef>
              <a:spcAft>
                <a:spcPts val="0"/>
              </a:spcAft>
              <a:buSzPts val="1600"/>
              <a:buChar char="●"/>
            </a:pPr>
            <a:r>
              <a:rPr lang="en" sz="1600"/>
              <a:t>The platform allows both free and paid sessions, with per-minute billing and wallet-based payments. A “first chat free” feature helps new users experience the service before paying.</a:t>
            </a:r>
            <a:endParaRPr sz="1600"/>
          </a:p>
          <a:p>
            <a:pPr indent="-330200" lvl="0" marL="457200" rtl="0" algn="l">
              <a:lnSpc>
                <a:spcPct val="150000"/>
              </a:lnSpc>
              <a:spcBef>
                <a:spcPts val="0"/>
              </a:spcBef>
              <a:spcAft>
                <a:spcPts val="0"/>
              </a:spcAft>
              <a:buSzPts val="1600"/>
              <a:buChar char="●"/>
            </a:pPr>
            <a:r>
              <a:rPr lang="en" sz="1600"/>
              <a:t>Over 700,000 astrologers are registered with  AstroSage. The system integrates AI to improve horoscope accuracy, automate simple queries, and personalize recommendations.</a:t>
            </a:r>
            <a:endParaRPr sz="1600"/>
          </a:p>
          <a:p>
            <a:pPr indent="-330200" lvl="0" marL="457200" rtl="0" algn="l">
              <a:lnSpc>
                <a:spcPct val="150000"/>
              </a:lnSpc>
              <a:spcBef>
                <a:spcPts val="0"/>
              </a:spcBef>
              <a:spcAft>
                <a:spcPts val="0"/>
              </a:spcAft>
              <a:buSzPts val="1600"/>
              <a:buChar char="●"/>
            </a:pPr>
            <a:r>
              <a:rPr lang="en" sz="1600"/>
              <a:t>Users can rate and review astrologers after each session, helping maintain quality and trust. Combining traditional astrology with modern technology, AstroSage makes spiritual guidance accessible, efficient, and user-friendly for millions worldwide.</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61000" y="2618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Data Set provided:</a:t>
            </a:r>
            <a:endParaRPr b="1" sz="2520">
              <a:solidFill>
                <a:srgbClr val="E69138"/>
              </a:solidFill>
            </a:endParaRPr>
          </a:p>
        </p:txBody>
      </p:sp>
      <p:pic>
        <p:nvPicPr>
          <p:cNvPr id="75" name="Google Shape;75;p16" title="AstroSage Data Snapshot.jpg"/>
          <p:cNvPicPr preferRelativeResize="0"/>
          <p:nvPr/>
        </p:nvPicPr>
        <p:blipFill>
          <a:blip r:embed="rId3">
            <a:alphaModFix/>
          </a:blip>
          <a:stretch>
            <a:fillRect/>
          </a:stretch>
        </p:blipFill>
        <p:spPr>
          <a:xfrm>
            <a:off x="514375" y="953150"/>
            <a:ext cx="7813235" cy="3820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1601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Attributes: </a:t>
            </a:r>
            <a:endParaRPr b="1" sz="2520">
              <a:solidFill>
                <a:srgbClr val="E69138"/>
              </a:solidFill>
            </a:endParaRPr>
          </a:p>
        </p:txBody>
      </p:sp>
      <p:sp>
        <p:nvSpPr>
          <p:cNvPr id="81" name="Google Shape;81;p17"/>
          <p:cNvSpPr txBox="1"/>
          <p:nvPr>
            <p:ph idx="1" type="body"/>
          </p:nvPr>
        </p:nvSpPr>
        <p:spPr>
          <a:xfrm>
            <a:off x="311700" y="732875"/>
            <a:ext cx="8520600" cy="4252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_id: </a:t>
            </a:r>
            <a:r>
              <a:rPr lang="en" sz="1600">
                <a:solidFill>
                  <a:srgbClr val="000000"/>
                </a:solidFill>
                <a:latin typeface="Lato"/>
                <a:ea typeface="Lato"/>
                <a:cs typeface="Lato"/>
                <a:sym typeface="Lato"/>
              </a:rPr>
              <a:t>Unique identifier for each record. 28028 unique values.</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user:</a:t>
            </a:r>
            <a:r>
              <a:rPr lang="en" sz="1600">
                <a:solidFill>
                  <a:srgbClr val="000000"/>
                </a:solidFill>
                <a:latin typeface="Lato"/>
                <a:ea typeface="Lato"/>
                <a:cs typeface="Lato"/>
                <a:sym typeface="Lato"/>
              </a:rPr>
              <a:t> User ID associated with the record. 10344 unique users</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chatStatus:</a:t>
            </a:r>
            <a:r>
              <a:rPr lang="en" sz="1600">
                <a:solidFill>
                  <a:srgbClr val="000000"/>
                </a:solidFill>
                <a:latin typeface="Lato"/>
                <a:ea typeface="Lato"/>
                <a:cs typeface="Lato"/>
                <a:sym typeface="Lato"/>
              </a:rPr>
              <a:t> Status of the chat (e.g., incomplete, failed, completed, started, pending, on call).</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guru:</a:t>
            </a:r>
            <a:r>
              <a:rPr lang="en" sz="1600">
                <a:solidFill>
                  <a:srgbClr val="000000"/>
                </a:solidFill>
                <a:latin typeface="Lato"/>
                <a:ea typeface="Lato"/>
                <a:cs typeface="Lato"/>
                <a:sym typeface="Lato"/>
              </a:rPr>
              <a:t> Unique identifier for the guru. Total 133 gurus</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guruName:</a:t>
            </a:r>
            <a:r>
              <a:rPr lang="en" sz="1600">
                <a:solidFill>
                  <a:srgbClr val="000000"/>
                </a:solidFill>
                <a:latin typeface="Lato"/>
                <a:ea typeface="Lato"/>
                <a:cs typeface="Lato"/>
                <a:sym typeface="Lato"/>
              </a:rPr>
              <a:t> Name of the guru.</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gid: </a:t>
            </a:r>
            <a:r>
              <a:rPr lang="en" sz="1600">
                <a:solidFill>
                  <a:srgbClr val="000000"/>
                </a:solidFill>
                <a:latin typeface="Lato"/>
                <a:ea typeface="Lato"/>
                <a:cs typeface="Lato"/>
                <a:sym typeface="Lato"/>
              </a:rPr>
              <a:t>Guru ID. Total 133 integer values assigned to gurus</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uid:</a:t>
            </a:r>
            <a:r>
              <a:rPr lang="en" sz="1600">
                <a:solidFill>
                  <a:srgbClr val="000000"/>
                </a:solidFill>
                <a:latin typeface="Lato"/>
                <a:ea typeface="Lato"/>
                <a:cs typeface="Lato"/>
                <a:sym typeface="Lato"/>
              </a:rPr>
              <a:t> User ID. Total 10344 </a:t>
            </a:r>
            <a:r>
              <a:rPr lang="en" sz="1600">
                <a:solidFill>
                  <a:srgbClr val="000000"/>
                </a:solidFill>
                <a:latin typeface="Lato"/>
                <a:ea typeface="Lato"/>
                <a:cs typeface="Lato"/>
                <a:sym typeface="Lato"/>
              </a:rPr>
              <a:t>integer</a:t>
            </a:r>
            <a:r>
              <a:rPr lang="en" sz="1600">
                <a:solidFill>
                  <a:srgbClr val="000000"/>
                </a:solidFill>
                <a:latin typeface="Lato"/>
                <a:ea typeface="Lato"/>
                <a:cs typeface="Lato"/>
                <a:sym typeface="Lato"/>
              </a:rPr>
              <a:t> </a:t>
            </a:r>
            <a:r>
              <a:rPr lang="en" sz="1600">
                <a:solidFill>
                  <a:srgbClr val="000000"/>
                </a:solidFill>
                <a:latin typeface="Lato"/>
                <a:ea typeface="Lato"/>
                <a:cs typeface="Lato"/>
                <a:sym typeface="Lato"/>
              </a:rPr>
              <a:t>values</a:t>
            </a:r>
            <a:r>
              <a:rPr lang="en" sz="1600">
                <a:solidFill>
                  <a:srgbClr val="000000"/>
                </a:solidFill>
                <a:latin typeface="Lato"/>
                <a:ea typeface="Lato"/>
                <a:cs typeface="Lato"/>
                <a:sym typeface="Lato"/>
              </a:rPr>
              <a:t> assigned to users</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consultation Type:</a:t>
            </a:r>
            <a:r>
              <a:rPr lang="en" sz="1600">
                <a:solidFill>
                  <a:srgbClr val="000000"/>
                </a:solidFill>
                <a:latin typeface="Lato"/>
                <a:ea typeface="Lato"/>
                <a:cs typeface="Lato"/>
                <a:sym typeface="Lato"/>
              </a:rPr>
              <a:t> Type of consultation (e.g., Chat, Call, conference, public call).</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website:</a:t>
            </a:r>
            <a:r>
              <a:rPr lang="en" sz="1600">
                <a:solidFill>
                  <a:srgbClr val="000000"/>
                </a:solidFill>
                <a:latin typeface="Lato"/>
                <a:ea typeface="Lato"/>
                <a:cs typeface="Lato"/>
                <a:sym typeface="Lato"/>
              </a:rPr>
              <a:t> Source of the consultation (e.g., gurucool, app, dashboard).</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Refund Status:</a:t>
            </a:r>
            <a:r>
              <a:rPr lang="en" sz="1600">
                <a:solidFill>
                  <a:srgbClr val="000000"/>
                </a:solidFill>
                <a:latin typeface="Lato"/>
                <a:ea typeface="Lato"/>
                <a:cs typeface="Lato"/>
                <a:sym typeface="Lato"/>
              </a:rPr>
              <a:t> Indicates if the session is refundable or not (e.g., no-refund).</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is WhiteList User:</a:t>
            </a:r>
            <a:r>
              <a:rPr lang="en" sz="1600">
                <a:solidFill>
                  <a:srgbClr val="000000"/>
                </a:solidFill>
                <a:latin typeface="Lato"/>
                <a:ea typeface="Lato"/>
                <a:cs typeface="Lato"/>
                <a:sym typeface="Lato"/>
              </a:rPr>
              <a:t> Boolean indicating if the user is whitelisted.</a:t>
            </a:r>
            <a:endParaRPr sz="1600">
              <a:solidFill>
                <a:srgbClr val="000000"/>
              </a:solidFill>
              <a:latin typeface="Lato"/>
              <a:ea typeface="Lato"/>
              <a:cs typeface="Lato"/>
              <a:sym typeface="Lato"/>
            </a:endParaRPr>
          </a:p>
          <a:p>
            <a:pPr indent="-330200" lvl="0" marL="457200" rtl="0" algn="l">
              <a:spcBef>
                <a:spcPts val="0"/>
              </a:spcBef>
              <a:spcAft>
                <a:spcPts val="0"/>
              </a:spcAft>
              <a:buClr>
                <a:srgbClr val="000000"/>
              </a:buClr>
              <a:buSzPts val="1600"/>
              <a:buChar char="●"/>
            </a:pPr>
            <a:r>
              <a:rPr b="1" lang="en" sz="1600">
                <a:solidFill>
                  <a:srgbClr val="000000"/>
                </a:solidFill>
                <a:latin typeface="Lato"/>
                <a:ea typeface="Lato"/>
                <a:cs typeface="Lato"/>
                <a:sym typeface="Lato"/>
              </a:rPr>
              <a:t>chat Seconds:</a:t>
            </a:r>
            <a:r>
              <a:rPr lang="en" sz="1600">
                <a:solidFill>
                  <a:srgbClr val="000000"/>
                </a:solidFill>
                <a:latin typeface="Lato"/>
                <a:ea typeface="Lato"/>
                <a:cs typeface="Lato"/>
                <a:sym typeface="Lato"/>
              </a:rPr>
              <a:t> Duration of the chat in seconds.</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313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Attributes (continued):</a:t>
            </a:r>
            <a:r>
              <a:rPr b="1" lang="en" sz="2520"/>
              <a:t> </a:t>
            </a:r>
            <a:endParaRPr b="1" sz="2520"/>
          </a:p>
        </p:txBody>
      </p:sp>
      <p:sp>
        <p:nvSpPr>
          <p:cNvPr id="87" name="Google Shape;87;p18"/>
          <p:cNvSpPr txBox="1"/>
          <p:nvPr>
            <p:ph idx="1" type="body"/>
          </p:nvPr>
        </p:nvSpPr>
        <p:spPr>
          <a:xfrm>
            <a:off x="311700" y="804075"/>
            <a:ext cx="8520600" cy="4111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queue:</a:t>
            </a:r>
            <a:r>
              <a:rPr lang="en" sz="1600">
                <a:solidFill>
                  <a:schemeClr val="dk1"/>
                </a:solidFill>
                <a:latin typeface="Lato"/>
                <a:ea typeface="Lato"/>
                <a:cs typeface="Lato"/>
                <a:sym typeface="Lato"/>
              </a:rPr>
              <a:t> Boolean indicating if the session was queued.</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FreeCall:</a:t>
            </a:r>
            <a:r>
              <a:rPr lang="en" sz="1600">
                <a:solidFill>
                  <a:schemeClr val="dk1"/>
                </a:solidFill>
                <a:latin typeface="Lato"/>
                <a:ea typeface="Lato"/>
                <a:cs typeface="Lato"/>
                <a:sym typeface="Lato"/>
              </a:rPr>
              <a:t> Boolean indicating if the call was free.</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Free Chat:</a:t>
            </a:r>
            <a:r>
              <a:rPr lang="en" sz="1600">
                <a:solidFill>
                  <a:schemeClr val="dk1"/>
                </a:solidFill>
                <a:latin typeface="Lato"/>
                <a:ea typeface="Lato"/>
                <a:cs typeface="Lato"/>
                <a:sym typeface="Lato"/>
              </a:rPr>
              <a:t> Boolean indicating if the chat was free.</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CreatedAT:</a:t>
            </a:r>
            <a:r>
              <a:rPr lang="en" sz="1600">
                <a:solidFill>
                  <a:schemeClr val="dk1"/>
                </a:solidFill>
                <a:latin typeface="Lato"/>
                <a:ea typeface="Lato"/>
                <a:cs typeface="Lato"/>
                <a:sym typeface="Lato"/>
              </a:rPr>
              <a:t> Original creation date and time.</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updatedAt: </a:t>
            </a:r>
            <a:r>
              <a:rPr lang="en" sz="1600">
                <a:solidFill>
                  <a:schemeClr val="dk1"/>
                </a:solidFill>
                <a:latin typeface="Lato"/>
                <a:ea typeface="Lato"/>
                <a:cs typeface="Lato"/>
                <a:sym typeface="Lato"/>
              </a:rPr>
              <a:t>Original update date and time.</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Font typeface="Lato"/>
              <a:buChar char="●"/>
            </a:pPr>
            <a:r>
              <a:rPr b="1" lang="en" sz="1600">
                <a:solidFill>
                  <a:schemeClr val="dk1"/>
                </a:solidFill>
                <a:latin typeface="Lato"/>
                <a:ea typeface="Lato"/>
                <a:cs typeface="Lato"/>
                <a:sym typeface="Lato"/>
              </a:rPr>
              <a:t>__v:</a:t>
            </a:r>
            <a:r>
              <a:rPr lang="en" sz="1600">
                <a:solidFill>
                  <a:schemeClr val="dk1"/>
                </a:solidFill>
                <a:latin typeface="Lato"/>
                <a:ea typeface="Lato"/>
                <a:cs typeface="Lato"/>
                <a:sym typeface="Lato"/>
              </a:rPr>
              <a:t> Version key.</a:t>
            </a:r>
            <a:endParaRPr b="1"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statementEntryId:</a:t>
            </a:r>
            <a:r>
              <a:rPr lang="en" sz="1600">
                <a:solidFill>
                  <a:schemeClr val="dk1"/>
                </a:solidFill>
                <a:latin typeface="Lato"/>
                <a:ea typeface="Lato"/>
                <a:cs typeface="Lato"/>
                <a:sym typeface="Lato"/>
              </a:rPr>
              <a:t> Identifier for the statement entry.</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chatStartTime:</a:t>
            </a:r>
            <a:r>
              <a:rPr lang="en" sz="1600">
                <a:solidFill>
                  <a:schemeClr val="dk1"/>
                </a:solidFill>
                <a:latin typeface="Lato"/>
                <a:ea typeface="Lato"/>
                <a:cs typeface="Lato"/>
                <a:sym typeface="Lato"/>
              </a:rPr>
              <a:t> Start time of the chat.</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chatEndTime:</a:t>
            </a:r>
            <a:r>
              <a:rPr lang="en" sz="1600">
                <a:solidFill>
                  <a:schemeClr val="dk1"/>
                </a:solidFill>
                <a:latin typeface="Lato"/>
                <a:ea typeface="Lato"/>
                <a:cs typeface="Lato"/>
                <a:sym typeface="Lato"/>
              </a:rPr>
              <a:t> End time of the chat.</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timeDuration:</a:t>
            </a:r>
            <a:r>
              <a:rPr lang="en" sz="1600">
                <a:solidFill>
                  <a:schemeClr val="dk1"/>
                </a:solidFill>
                <a:latin typeface="Lato"/>
                <a:ea typeface="Lato"/>
                <a:cs typeface="Lato"/>
                <a:sym typeface="Lato"/>
              </a:rPr>
              <a:t> Undefined, some technical data as per app. (Don’t use it as the duration of chat/call)</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callChannel:</a:t>
            </a:r>
            <a:r>
              <a:rPr lang="en" sz="1600">
                <a:solidFill>
                  <a:schemeClr val="dk1"/>
                </a:solidFill>
                <a:latin typeface="Lato"/>
                <a:ea typeface="Lato"/>
                <a:cs typeface="Lato"/>
                <a:sym typeface="Lato"/>
              </a:rPr>
              <a:t> Channel used for the call.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2313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Attributes (continued):</a:t>
            </a:r>
            <a:r>
              <a:rPr b="1" lang="en" sz="2520"/>
              <a:t> </a:t>
            </a:r>
            <a:endParaRPr b="1" sz="2520"/>
          </a:p>
        </p:txBody>
      </p:sp>
      <p:sp>
        <p:nvSpPr>
          <p:cNvPr id="93" name="Google Shape;93;p19"/>
          <p:cNvSpPr txBox="1"/>
          <p:nvPr>
            <p:ph idx="1" type="body"/>
          </p:nvPr>
        </p:nvSpPr>
        <p:spPr>
          <a:xfrm>
            <a:off x="311700" y="804075"/>
            <a:ext cx="8520600" cy="4111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calIvrType: </a:t>
            </a:r>
            <a:r>
              <a:rPr lang="en" sz="1600">
                <a:solidFill>
                  <a:schemeClr val="dk1"/>
                </a:solidFill>
                <a:latin typeface="Lato"/>
                <a:ea typeface="Lato"/>
                <a:cs typeface="Lato"/>
                <a:sym typeface="Lato"/>
              </a:rPr>
              <a:t>IVR type used during the call.</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callStatus:</a:t>
            </a:r>
            <a:r>
              <a:rPr lang="en" sz="1600">
                <a:solidFill>
                  <a:schemeClr val="dk1"/>
                </a:solidFill>
                <a:latin typeface="Lato"/>
                <a:ea typeface="Lato"/>
                <a:cs typeface="Lato"/>
                <a:sym typeface="Lato"/>
              </a:rPr>
              <a:t> Status of the call.</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CallSid: </a:t>
            </a:r>
            <a:r>
              <a:rPr lang="en" sz="1600">
                <a:solidFill>
                  <a:schemeClr val="dk1"/>
                </a:solidFill>
                <a:latin typeface="Lato"/>
                <a:ea typeface="Lato"/>
                <a:cs typeface="Lato"/>
                <a:sym typeface="Lato"/>
              </a:rPr>
              <a:t>Unique identifier for the call session.</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amount:</a:t>
            </a:r>
            <a:r>
              <a:rPr lang="en" sz="1600">
                <a:solidFill>
                  <a:schemeClr val="dk1"/>
                </a:solidFill>
                <a:latin typeface="Lato"/>
                <a:ea typeface="Lato"/>
                <a:cs typeface="Lato"/>
                <a:sym typeface="Lato"/>
              </a:rPr>
              <a:t> Amount charged for the session.</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astrologerCallStatus: </a:t>
            </a:r>
            <a:r>
              <a:rPr lang="en" sz="1600">
                <a:solidFill>
                  <a:schemeClr val="dk1"/>
                </a:solidFill>
                <a:latin typeface="Lato"/>
                <a:ea typeface="Lato"/>
                <a:cs typeface="Lato"/>
                <a:sym typeface="Lato"/>
              </a:rPr>
              <a:t>Status of the astrologer during the call.</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astrologerOnCallDuration:</a:t>
            </a:r>
            <a:r>
              <a:rPr lang="en" sz="1600">
                <a:solidFill>
                  <a:schemeClr val="dk1"/>
                </a:solidFill>
                <a:latin typeface="Lato"/>
                <a:ea typeface="Lato"/>
                <a:cs typeface="Lato"/>
                <a:sym typeface="Lato"/>
              </a:rPr>
              <a:t> Duration of the astrologer's call.</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astrologersEarnings:</a:t>
            </a:r>
            <a:r>
              <a:rPr lang="en" sz="1600">
                <a:solidFill>
                  <a:schemeClr val="dk1"/>
                </a:solidFill>
                <a:latin typeface="Lato"/>
                <a:ea typeface="Lato"/>
                <a:cs typeface="Lato"/>
                <a:sym typeface="Lato"/>
              </a:rPr>
              <a:t> Earnings of the astrologer from the session.</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netAmount:</a:t>
            </a:r>
            <a:r>
              <a:rPr lang="en" sz="1600">
                <a:solidFill>
                  <a:schemeClr val="dk1"/>
                </a:solidFill>
                <a:latin typeface="Lato"/>
                <a:ea typeface="Lato"/>
                <a:cs typeface="Lato"/>
                <a:sym typeface="Lato"/>
              </a:rPr>
              <a:t> Net amount after deductions.</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region:</a:t>
            </a:r>
            <a:r>
              <a:rPr lang="en" sz="1600">
                <a:solidFill>
                  <a:schemeClr val="dk1"/>
                </a:solidFill>
                <a:latin typeface="Lato"/>
                <a:ea typeface="Lato"/>
                <a:cs typeface="Lato"/>
                <a:sym typeface="Lato"/>
              </a:rPr>
              <a:t> Region of the user.</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userCallStatus:</a:t>
            </a:r>
            <a:r>
              <a:rPr lang="en" sz="1600">
                <a:solidFill>
                  <a:schemeClr val="dk1"/>
                </a:solidFill>
                <a:latin typeface="Lato"/>
                <a:ea typeface="Lato"/>
                <a:cs typeface="Lato"/>
                <a:sym typeface="Lato"/>
              </a:rPr>
              <a:t> Status of the user's call.</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userOnCallDuration:</a:t>
            </a:r>
            <a:r>
              <a:rPr lang="en" sz="1600">
                <a:solidFill>
                  <a:schemeClr val="dk1"/>
                </a:solidFill>
                <a:latin typeface="Lato"/>
                <a:ea typeface="Lato"/>
                <a:cs typeface="Lato"/>
                <a:sym typeface="Lato"/>
              </a:rPr>
              <a:t> Duration of the user's call.</a:t>
            </a:r>
            <a:endParaRPr sz="1600">
              <a:solidFill>
                <a:schemeClr val="dk1"/>
              </a:solidFill>
              <a:latin typeface="Lato"/>
              <a:ea typeface="Lato"/>
              <a:cs typeface="Lato"/>
              <a:sym typeface="Lato"/>
            </a:endParaRPr>
          </a:p>
          <a:p>
            <a:pPr indent="-330200" lvl="0" marL="457200" rtl="0" algn="l">
              <a:spcBef>
                <a:spcPts val="0"/>
              </a:spcBef>
              <a:spcAft>
                <a:spcPts val="0"/>
              </a:spcAft>
              <a:buClr>
                <a:schemeClr val="dk1"/>
              </a:buClr>
              <a:buSzPts val="1600"/>
              <a:buChar char="●"/>
            </a:pPr>
            <a:r>
              <a:rPr b="1" lang="en" sz="1600">
                <a:solidFill>
                  <a:schemeClr val="dk1"/>
                </a:solidFill>
                <a:latin typeface="Lato"/>
                <a:ea typeface="Lato"/>
                <a:cs typeface="Lato"/>
                <a:sym typeface="Lato"/>
              </a:rPr>
              <a:t>rating:</a:t>
            </a:r>
            <a:r>
              <a:rPr lang="en" sz="1600">
                <a:solidFill>
                  <a:schemeClr val="dk1"/>
                </a:solidFill>
                <a:latin typeface="Lato"/>
                <a:ea typeface="Lato"/>
                <a:cs typeface="Lato"/>
                <a:sym typeface="Lato"/>
              </a:rPr>
              <a:t> Rating assigned based on the session's status. (Scale: 0-5 for call, 0-8 for chat)</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1773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Data Cleaning: </a:t>
            </a:r>
            <a:endParaRPr b="1" sz="2520">
              <a:solidFill>
                <a:srgbClr val="E69138"/>
              </a:solidFill>
            </a:endParaRPr>
          </a:p>
        </p:txBody>
      </p:sp>
      <p:sp>
        <p:nvSpPr>
          <p:cNvPr id="99" name="Google Shape;99;p20"/>
          <p:cNvSpPr txBox="1"/>
          <p:nvPr>
            <p:ph idx="1" type="body"/>
          </p:nvPr>
        </p:nvSpPr>
        <p:spPr>
          <a:xfrm>
            <a:off x="311700" y="828600"/>
            <a:ext cx="8520600" cy="37404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Interestingly there were no duplicates. </a:t>
            </a:r>
            <a:endParaRPr sz="1600"/>
          </a:p>
          <a:p>
            <a:pPr indent="-330200" lvl="0" marL="457200" rtl="0" algn="l">
              <a:lnSpc>
                <a:spcPct val="150000"/>
              </a:lnSpc>
              <a:spcBef>
                <a:spcPts val="0"/>
              </a:spcBef>
              <a:spcAft>
                <a:spcPts val="0"/>
              </a:spcAft>
              <a:buSzPts val="1600"/>
              <a:buChar char="●"/>
            </a:pPr>
            <a:r>
              <a:rPr lang="en" sz="1600"/>
              <a:t>Filled ‘N/A’ where there is no need for data to be present, like call related attributes for chat records and vice versa.</a:t>
            </a:r>
            <a:endParaRPr sz="1600"/>
          </a:p>
          <a:p>
            <a:pPr indent="-330200" lvl="0" marL="457200" rtl="0" algn="l">
              <a:lnSpc>
                <a:spcPct val="150000"/>
              </a:lnSpc>
              <a:spcBef>
                <a:spcPts val="0"/>
              </a:spcBef>
              <a:spcAft>
                <a:spcPts val="0"/>
              </a:spcAft>
              <a:buSzPts val="1600"/>
              <a:buChar char="●"/>
            </a:pPr>
            <a:r>
              <a:rPr lang="en" sz="1600"/>
              <a:t>Filled ‘Missing’ where data should have been present but is not present.</a:t>
            </a:r>
            <a:endParaRPr sz="1600"/>
          </a:p>
          <a:p>
            <a:pPr indent="-330200" lvl="0" marL="457200" rtl="0" algn="l">
              <a:lnSpc>
                <a:spcPct val="150000"/>
              </a:lnSpc>
              <a:spcBef>
                <a:spcPts val="0"/>
              </a:spcBef>
              <a:spcAft>
                <a:spcPts val="0"/>
              </a:spcAft>
              <a:buSzPts val="1600"/>
              <a:buChar char="●"/>
            </a:pPr>
            <a:r>
              <a:rPr lang="en" sz="1600"/>
              <a:t>Filled 0’s in numeric columns like ‘amount’ and ‘earnings’ where the value is sure to be zero because of session being a free call or free chat, or if the status is cancelled, failed or incomplete etc.</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47325" y="16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800">
                <a:solidFill>
                  <a:srgbClr val="E69138"/>
                </a:solidFill>
              </a:rPr>
              <a:t>Data Processing:</a:t>
            </a:r>
            <a:r>
              <a:rPr b="1" lang="en"/>
              <a:t> </a:t>
            </a:r>
            <a:endParaRPr b="1"/>
          </a:p>
        </p:txBody>
      </p:sp>
      <p:sp>
        <p:nvSpPr>
          <p:cNvPr id="105" name="Google Shape;105;p21"/>
          <p:cNvSpPr txBox="1"/>
          <p:nvPr>
            <p:ph idx="1" type="body"/>
          </p:nvPr>
        </p:nvSpPr>
        <p:spPr>
          <a:xfrm>
            <a:off x="240450" y="741750"/>
            <a:ext cx="8663100" cy="38271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0"/>
              </a:spcBef>
              <a:spcAft>
                <a:spcPts val="0"/>
              </a:spcAft>
              <a:buNone/>
            </a:pPr>
            <a:r>
              <a:rPr lang="en" sz="1600"/>
              <a:t>Using </a:t>
            </a:r>
            <a:r>
              <a:rPr b="1" lang="en" sz="1600"/>
              <a:t>createdAt</a:t>
            </a:r>
            <a:r>
              <a:rPr lang="en" sz="1600"/>
              <a:t> column, extracted:</a:t>
            </a:r>
            <a:endParaRPr sz="1600"/>
          </a:p>
          <a:p>
            <a:pPr indent="-330200" lvl="0" marL="914400" rtl="0" algn="l">
              <a:lnSpc>
                <a:spcPct val="150000"/>
              </a:lnSpc>
              <a:spcBef>
                <a:spcPts val="1200"/>
              </a:spcBef>
              <a:spcAft>
                <a:spcPts val="0"/>
              </a:spcAft>
              <a:buSzPts val="1600"/>
              <a:buChar char="●"/>
            </a:pPr>
            <a:r>
              <a:rPr b="1" lang="en" sz="1600"/>
              <a:t>createdAt Date :</a:t>
            </a:r>
            <a:r>
              <a:rPr lang="en" sz="1600"/>
              <a:t>  using =INT(createdAt)</a:t>
            </a:r>
            <a:endParaRPr sz="1600"/>
          </a:p>
          <a:p>
            <a:pPr indent="-330200" lvl="0" marL="914400" rtl="0" algn="l">
              <a:lnSpc>
                <a:spcPct val="150000"/>
              </a:lnSpc>
              <a:spcBef>
                <a:spcPts val="0"/>
              </a:spcBef>
              <a:spcAft>
                <a:spcPts val="0"/>
              </a:spcAft>
              <a:buSzPts val="1600"/>
              <a:buChar char="●"/>
            </a:pPr>
            <a:r>
              <a:rPr b="1" lang="en" sz="1600"/>
              <a:t>createdAt Year :</a:t>
            </a:r>
            <a:r>
              <a:rPr lang="en" sz="1600"/>
              <a:t> using =TEXT(R2,"yyyy")</a:t>
            </a:r>
            <a:endParaRPr sz="1600"/>
          </a:p>
          <a:p>
            <a:pPr indent="-330200" lvl="0" marL="914400" rtl="0" algn="l">
              <a:lnSpc>
                <a:spcPct val="150000"/>
              </a:lnSpc>
              <a:spcBef>
                <a:spcPts val="0"/>
              </a:spcBef>
              <a:spcAft>
                <a:spcPts val="0"/>
              </a:spcAft>
              <a:buSzPts val="1600"/>
              <a:buChar char="●"/>
            </a:pPr>
            <a:r>
              <a:rPr b="1" lang="en" sz="1600"/>
              <a:t>createdAt Month :</a:t>
            </a:r>
            <a:r>
              <a:rPr lang="en" sz="1600"/>
              <a:t> using =TEXT(R2,"mmm")</a:t>
            </a:r>
            <a:endParaRPr sz="1600"/>
          </a:p>
          <a:p>
            <a:pPr indent="-330200" lvl="0" marL="914400" rtl="0" algn="l">
              <a:lnSpc>
                <a:spcPct val="150000"/>
              </a:lnSpc>
              <a:spcBef>
                <a:spcPts val="0"/>
              </a:spcBef>
              <a:spcAft>
                <a:spcPts val="0"/>
              </a:spcAft>
              <a:buSzPts val="1600"/>
              <a:buChar char="●"/>
            </a:pPr>
            <a:r>
              <a:rPr b="1" lang="en" sz="1600"/>
              <a:t>createdAt year-month :</a:t>
            </a:r>
            <a:r>
              <a:rPr lang="en" sz="1600"/>
              <a:t> using =TEXT(R2,"yyyy-mmm")</a:t>
            </a:r>
            <a:endParaRPr sz="1600"/>
          </a:p>
          <a:p>
            <a:pPr indent="-330200" lvl="0" marL="914400" rtl="0" algn="l">
              <a:lnSpc>
                <a:spcPct val="150000"/>
              </a:lnSpc>
              <a:spcBef>
                <a:spcPts val="0"/>
              </a:spcBef>
              <a:spcAft>
                <a:spcPts val="0"/>
              </a:spcAft>
              <a:buSzPts val="1600"/>
              <a:buChar char="●"/>
            </a:pPr>
            <a:r>
              <a:rPr b="1" lang="en" sz="1600"/>
              <a:t>createdAt weekday :</a:t>
            </a:r>
            <a:r>
              <a:rPr lang="en" sz="1600"/>
              <a:t> using =TEXT(R2, "ddd")</a:t>
            </a:r>
            <a:endParaRPr sz="1600"/>
          </a:p>
          <a:p>
            <a:pPr indent="-330200" lvl="0" marL="914400" rtl="0" algn="l">
              <a:lnSpc>
                <a:spcPct val="150000"/>
              </a:lnSpc>
              <a:spcBef>
                <a:spcPts val="0"/>
              </a:spcBef>
              <a:spcAft>
                <a:spcPts val="0"/>
              </a:spcAft>
              <a:buSzPts val="1600"/>
              <a:buChar char="●"/>
            </a:pPr>
            <a:r>
              <a:rPr b="1" lang="en" sz="1600"/>
              <a:t>createdAt Hour :</a:t>
            </a:r>
            <a:r>
              <a:rPr lang="en" sz="1600"/>
              <a:t> using =Value(TEXT(Q2,"h"))</a:t>
            </a:r>
            <a:endParaRPr sz="1600"/>
          </a:p>
          <a:p>
            <a:pPr indent="0" lvl="0" marL="457200" rtl="0" algn="l">
              <a:lnSpc>
                <a:spcPct val="150000"/>
              </a:lnSpc>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idx="1" type="body"/>
          </p:nvPr>
        </p:nvSpPr>
        <p:spPr>
          <a:xfrm>
            <a:off x="311700" y="856775"/>
            <a:ext cx="8520600" cy="37122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Using </a:t>
            </a:r>
            <a:r>
              <a:rPr b="1" lang="en" sz="1600"/>
              <a:t>chartStartTime</a:t>
            </a:r>
            <a:r>
              <a:rPr lang="en" sz="1600"/>
              <a:t> created </a:t>
            </a:r>
            <a:r>
              <a:rPr b="1" lang="en" sz="1600"/>
              <a:t>chartStartTime_formated</a:t>
            </a:r>
            <a:r>
              <a:rPr lang="en" sz="1600"/>
              <a:t> using formula: =IF(OR(AB2="N/A", AB2="Missing"), AB2, VALUE(SUBSTITUTE(SUBSTITUTE(AB2,"T"," "),"Z",""))</a:t>
            </a:r>
            <a:endParaRPr sz="1600"/>
          </a:p>
          <a:p>
            <a:pPr indent="-330200" lvl="0" marL="457200" rtl="0" algn="l">
              <a:lnSpc>
                <a:spcPct val="150000"/>
              </a:lnSpc>
              <a:spcBef>
                <a:spcPts val="0"/>
              </a:spcBef>
              <a:spcAft>
                <a:spcPts val="0"/>
              </a:spcAft>
              <a:buSzPts val="1600"/>
              <a:buChar char="●"/>
            </a:pPr>
            <a:r>
              <a:rPr lang="en" sz="1600"/>
              <a:t>Using </a:t>
            </a:r>
            <a:r>
              <a:rPr b="1" lang="en" sz="1600"/>
              <a:t>chatEndTime</a:t>
            </a:r>
            <a:r>
              <a:rPr lang="en" sz="1600"/>
              <a:t> created </a:t>
            </a:r>
            <a:r>
              <a:rPr b="1" lang="en" sz="1600"/>
              <a:t>chatEndTime_formated</a:t>
            </a:r>
            <a:r>
              <a:rPr lang="en" sz="1600"/>
              <a:t> using formula:  =IF(OR(AD2="N/A", AD2="Missing"), AD2, VALUE(SUBSTITUTE(SUBSTITUTE(AD2:AD28028,"T"," "),"Z","")))</a:t>
            </a:r>
            <a:endParaRPr sz="1600"/>
          </a:p>
          <a:p>
            <a:pPr indent="-330200" lvl="0" marL="457200" rtl="0" algn="l">
              <a:spcBef>
                <a:spcPts val="0"/>
              </a:spcBef>
              <a:spcAft>
                <a:spcPts val="0"/>
              </a:spcAft>
              <a:buSzPts val="1600"/>
              <a:buChar char="●"/>
            </a:pPr>
            <a:r>
              <a:rPr lang="en" sz="1600"/>
              <a:t>Created column </a:t>
            </a:r>
            <a:r>
              <a:rPr b="1" lang="en" sz="1600"/>
              <a:t>updatedAt_formatted </a:t>
            </a:r>
            <a:r>
              <a:rPr lang="en" sz="1600"/>
              <a:t>using Array formula:</a:t>
            </a:r>
            <a:endParaRPr sz="1600"/>
          </a:p>
          <a:p>
            <a:pPr indent="0" lvl="0" marL="457200" rtl="0" algn="l">
              <a:spcBef>
                <a:spcPts val="1200"/>
              </a:spcBef>
              <a:spcAft>
                <a:spcPts val="1200"/>
              </a:spcAft>
              <a:buNone/>
            </a:pPr>
            <a:r>
              <a:rPr lang="en" sz="1600"/>
              <a:t>= ARRAYFORMULA(IF(X2:X28028="","", VALUE(SUBSTITUTE(SUBSTITUTE(X2:X28028,"T"," "),"Z",""))))</a:t>
            </a:r>
            <a:endParaRPr sz="1600"/>
          </a:p>
        </p:txBody>
      </p:sp>
      <p:sp>
        <p:nvSpPr>
          <p:cNvPr id="111" name="Google Shape;111;p22"/>
          <p:cNvSpPr txBox="1"/>
          <p:nvPr>
            <p:ph type="title"/>
          </p:nvPr>
        </p:nvSpPr>
        <p:spPr>
          <a:xfrm>
            <a:off x="347325" y="169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800">
                <a:solidFill>
                  <a:srgbClr val="E69138"/>
                </a:solidFill>
              </a:rPr>
              <a:t>Data Processing (continued) :</a:t>
            </a:r>
            <a:r>
              <a:rPr b="1" lang="en"/>
              <a:t> </a:t>
            </a:r>
            <a:endParaRPr b="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2232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Data Processing (continued):</a:t>
            </a:r>
            <a:endParaRPr b="1" sz="2520">
              <a:solidFill>
                <a:srgbClr val="E69138"/>
              </a:solidFill>
            </a:endParaRPr>
          </a:p>
        </p:txBody>
      </p:sp>
      <p:sp>
        <p:nvSpPr>
          <p:cNvPr id="117" name="Google Shape;117;p23"/>
          <p:cNvSpPr txBox="1"/>
          <p:nvPr>
            <p:ph idx="1" type="body"/>
          </p:nvPr>
        </p:nvSpPr>
        <p:spPr>
          <a:xfrm>
            <a:off x="311700" y="952500"/>
            <a:ext cx="8520600" cy="36165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Created column </a:t>
            </a:r>
            <a:r>
              <a:rPr b="1" lang="en" sz="1600"/>
              <a:t>Satisfaction Level</a:t>
            </a:r>
            <a:r>
              <a:rPr lang="en" sz="1600"/>
              <a:t> using Two formulas :</a:t>
            </a:r>
            <a:endParaRPr sz="1600"/>
          </a:p>
          <a:p>
            <a:pPr indent="-330200" lvl="0" marL="914400" rtl="0" algn="l">
              <a:spcBef>
                <a:spcPts val="0"/>
              </a:spcBef>
              <a:spcAft>
                <a:spcPts val="0"/>
              </a:spcAft>
              <a:buSzPts val="1600"/>
              <a:buAutoNum type="arabicPeriod"/>
            </a:pPr>
            <a:r>
              <a:rPr lang="en" sz="1600"/>
              <a:t>Applied filter consultationType = “not chat”  then applied formula :</a:t>
            </a:r>
            <a:endParaRPr sz="1600"/>
          </a:p>
          <a:p>
            <a:pPr indent="0" lvl="0" marL="914400" rtl="0" algn="l">
              <a:spcBef>
                <a:spcPts val="1200"/>
              </a:spcBef>
              <a:spcAft>
                <a:spcPts val="0"/>
              </a:spcAft>
              <a:buNone/>
            </a:pPr>
            <a:r>
              <a:rPr lang="en" sz="1600"/>
              <a:t>=IF(AS9&lt;2,"Poor",IF(AS9&lt;4,"Average","Excellent"))</a:t>
            </a:r>
            <a:endParaRPr sz="1600"/>
          </a:p>
          <a:p>
            <a:pPr indent="-330200" lvl="0" marL="914400" rtl="0" algn="l">
              <a:spcBef>
                <a:spcPts val="1200"/>
              </a:spcBef>
              <a:spcAft>
                <a:spcPts val="0"/>
              </a:spcAft>
              <a:buSzPts val="1600"/>
              <a:buAutoNum type="arabicPeriod"/>
            </a:pPr>
            <a:r>
              <a:rPr lang="en" sz="1600"/>
              <a:t>Applied filter consultationType =”chat” then applied formula:</a:t>
            </a:r>
            <a:endParaRPr sz="1600"/>
          </a:p>
          <a:p>
            <a:pPr indent="0" lvl="0" marL="914400" rtl="0" algn="l">
              <a:spcBef>
                <a:spcPts val="1200"/>
              </a:spcBef>
              <a:spcAft>
                <a:spcPts val="0"/>
              </a:spcAft>
              <a:buNone/>
            </a:pPr>
            <a:r>
              <a:rPr lang="en" sz="1600"/>
              <a:t>=IF(AS2&lt;3,"Poor",IF(AS2&lt;6,"Average","Excellent"))</a:t>
            </a:r>
            <a:endParaRPr sz="1600"/>
          </a:p>
          <a:p>
            <a:pPr indent="-330200" lvl="0" marL="457200" rtl="0" algn="l">
              <a:spcBef>
                <a:spcPts val="1200"/>
              </a:spcBef>
              <a:spcAft>
                <a:spcPts val="0"/>
              </a:spcAft>
              <a:buSzPts val="1600"/>
              <a:buChar char="●"/>
            </a:pPr>
            <a:r>
              <a:rPr lang="en" sz="1600"/>
              <a:t>Created column </a:t>
            </a:r>
            <a:r>
              <a:rPr b="1" lang="en" sz="1600"/>
              <a:t>user_frequency</a:t>
            </a:r>
            <a:r>
              <a:rPr lang="en" sz="1600"/>
              <a:t> using: </a:t>
            </a:r>
            <a:endParaRPr sz="1600"/>
          </a:p>
          <a:p>
            <a:pPr indent="0" lvl="0" marL="457200" rtl="0" algn="l">
              <a:spcBef>
                <a:spcPts val="1200"/>
              </a:spcBef>
              <a:spcAft>
                <a:spcPts val="1200"/>
              </a:spcAft>
              <a:buNone/>
            </a:pPr>
            <a:r>
              <a:rPr lang="en" sz="1600"/>
              <a:t>=IF(COUNTIF($B$2:$B$28028,B2)&gt;1,"Repeated","Unique")</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217275" y="2285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b="1" lang="en" sz="2720">
                <a:solidFill>
                  <a:srgbClr val="E69138"/>
                </a:solidFill>
              </a:rPr>
              <a:t>Exploratory Data Analysis</a:t>
            </a:r>
            <a:endParaRPr sz="3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169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Key Attributes :</a:t>
            </a:r>
            <a:endParaRPr b="1" sz="2520">
              <a:solidFill>
                <a:srgbClr val="E69138"/>
              </a:solidFill>
            </a:endParaRPr>
          </a:p>
        </p:txBody>
      </p:sp>
      <p:sp>
        <p:nvSpPr>
          <p:cNvPr id="128" name="Google Shape;128;p25"/>
          <p:cNvSpPr txBox="1"/>
          <p:nvPr>
            <p:ph idx="1" type="body"/>
          </p:nvPr>
        </p:nvSpPr>
        <p:spPr>
          <a:xfrm>
            <a:off x="204750" y="810075"/>
            <a:ext cx="5452500" cy="3758700"/>
          </a:xfrm>
          <a:prstGeom prst="rect">
            <a:avLst/>
          </a:prstGeom>
        </p:spPr>
        <p:txBody>
          <a:bodyPr anchorCtr="0" anchor="t" bIns="91425" lIns="91425" spcFirstLastPara="1" rIns="91425" wrap="square" tIns="91425">
            <a:noAutofit/>
          </a:bodyPr>
          <a:lstStyle/>
          <a:p>
            <a:pPr indent="-332105" lvl="0" marL="457200" rtl="0" algn="l">
              <a:lnSpc>
                <a:spcPct val="150000"/>
              </a:lnSpc>
              <a:spcBef>
                <a:spcPts val="0"/>
              </a:spcBef>
              <a:spcAft>
                <a:spcPts val="0"/>
              </a:spcAft>
              <a:buSzPts val="1630"/>
              <a:buChar char="●"/>
            </a:pPr>
            <a:r>
              <a:rPr b="1" lang="en" sz="1629"/>
              <a:t>ConsultationType</a:t>
            </a:r>
            <a:r>
              <a:rPr lang="en" sz="1629"/>
              <a:t> is the most </a:t>
            </a:r>
            <a:r>
              <a:rPr lang="en" sz="1629"/>
              <a:t>important</a:t>
            </a:r>
            <a:r>
              <a:rPr lang="en" sz="1629"/>
              <a:t> column in the data, using </a:t>
            </a:r>
            <a:r>
              <a:rPr b="1" lang="en" sz="1629"/>
              <a:t>FILTER</a:t>
            </a:r>
            <a:r>
              <a:rPr lang="en" sz="1629"/>
              <a:t> on it we can </a:t>
            </a:r>
            <a:r>
              <a:rPr lang="en" sz="1629"/>
              <a:t>separate</a:t>
            </a:r>
            <a:r>
              <a:rPr lang="en" sz="1629"/>
              <a:t> chat, call and other category records from each other</a:t>
            </a:r>
            <a:endParaRPr sz="1629"/>
          </a:p>
          <a:p>
            <a:pPr indent="-332105" lvl="0" marL="457200" rtl="0" algn="l">
              <a:lnSpc>
                <a:spcPct val="150000"/>
              </a:lnSpc>
              <a:spcBef>
                <a:spcPts val="0"/>
              </a:spcBef>
              <a:spcAft>
                <a:spcPts val="0"/>
              </a:spcAft>
              <a:buSzPts val="1630"/>
              <a:buChar char="●"/>
            </a:pPr>
            <a:r>
              <a:rPr lang="en" sz="1629"/>
              <a:t>Out of</a:t>
            </a:r>
            <a:r>
              <a:rPr b="1" lang="en" sz="1629"/>
              <a:t> 28027 rows</a:t>
            </a:r>
            <a:r>
              <a:rPr lang="en" sz="1629"/>
              <a:t>, there are total </a:t>
            </a:r>
            <a:r>
              <a:rPr b="1" lang="en" sz="1629"/>
              <a:t>8508 call</a:t>
            </a:r>
            <a:r>
              <a:rPr lang="en" sz="1629"/>
              <a:t>, </a:t>
            </a:r>
            <a:r>
              <a:rPr b="1" lang="en" sz="1629"/>
              <a:t>19514 chat</a:t>
            </a:r>
            <a:r>
              <a:rPr lang="en" sz="1629"/>
              <a:t> , </a:t>
            </a:r>
            <a:r>
              <a:rPr b="1" lang="en" sz="1629"/>
              <a:t>2 complementary</a:t>
            </a:r>
            <a:r>
              <a:rPr lang="en" sz="1629"/>
              <a:t> &amp; </a:t>
            </a:r>
            <a:r>
              <a:rPr b="1" lang="en" sz="1629"/>
              <a:t>3 public live call</a:t>
            </a:r>
            <a:r>
              <a:rPr lang="en" sz="1629"/>
              <a:t> records.</a:t>
            </a:r>
            <a:endParaRPr sz="1629"/>
          </a:p>
          <a:p>
            <a:pPr indent="-332105" lvl="0" marL="457200" rtl="0" algn="l">
              <a:lnSpc>
                <a:spcPct val="150000"/>
              </a:lnSpc>
              <a:spcBef>
                <a:spcPts val="0"/>
              </a:spcBef>
              <a:spcAft>
                <a:spcPts val="0"/>
              </a:spcAft>
              <a:buSzPts val="1630"/>
              <a:buChar char="●"/>
            </a:pPr>
            <a:r>
              <a:rPr lang="en" sz="1629"/>
              <a:t>Using </a:t>
            </a:r>
            <a:r>
              <a:rPr b="1" lang="en" sz="1629"/>
              <a:t>CountUnique</a:t>
            </a:r>
            <a:r>
              <a:rPr lang="en" sz="1629"/>
              <a:t> function, we find, </a:t>
            </a:r>
            <a:r>
              <a:rPr b="1" lang="en" sz="1629"/>
              <a:t>user</a:t>
            </a:r>
            <a:r>
              <a:rPr lang="en" sz="1629"/>
              <a:t> column has </a:t>
            </a:r>
            <a:r>
              <a:rPr b="1" lang="en" sz="1629"/>
              <a:t>10344 unique user ids</a:t>
            </a:r>
            <a:r>
              <a:rPr lang="en" sz="1629"/>
              <a:t> and </a:t>
            </a:r>
            <a:r>
              <a:rPr b="1" lang="en" sz="1629"/>
              <a:t>guru</a:t>
            </a:r>
            <a:r>
              <a:rPr lang="en" sz="1629"/>
              <a:t> column has </a:t>
            </a:r>
            <a:r>
              <a:rPr b="1" lang="en" sz="1629"/>
              <a:t>133 unique guru ids. </a:t>
            </a:r>
            <a:r>
              <a:rPr lang="en" sz="1629"/>
              <a:t>We can use </a:t>
            </a:r>
            <a:r>
              <a:rPr b="1" lang="en" sz="1629"/>
              <a:t>Vlookup</a:t>
            </a:r>
            <a:r>
              <a:rPr lang="en" sz="1629"/>
              <a:t> to match the names with ids of users and gurus.</a:t>
            </a:r>
            <a:endParaRPr sz="1629"/>
          </a:p>
        </p:txBody>
      </p:sp>
      <p:pic>
        <p:nvPicPr>
          <p:cNvPr id="129" name="Google Shape;129;p25" title="Chart"/>
          <p:cNvPicPr preferRelativeResize="0"/>
          <p:nvPr/>
        </p:nvPicPr>
        <p:blipFill>
          <a:blip r:embed="rId3">
            <a:alphaModFix/>
          </a:blip>
          <a:stretch>
            <a:fillRect/>
          </a:stretch>
        </p:blipFill>
        <p:spPr>
          <a:xfrm>
            <a:off x="5791000" y="1408100"/>
            <a:ext cx="3353000" cy="24163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idx="1" type="body"/>
          </p:nvPr>
        </p:nvSpPr>
        <p:spPr>
          <a:xfrm>
            <a:off x="4142275" y="818975"/>
            <a:ext cx="4572600" cy="4059000"/>
          </a:xfrm>
          <a:prstGeom prst="rect">
            <a:avLst/>
          </a:prstGeom>
        </p:spPr>
        <p:txBody>
          <a:bodyPr anchorCtr="0" anchor="t" bIns="91425" lIns="91425" spcFirstLastPara="1" rIns="91425" wrap="square" tIns="91425">
            <a:noAutofit/>
          </a:bodyPr>
          <a:lstStyle/>
          <a:p>
            <a:pPr indent="-332105" lvl="0" marL="457200" rtl="0" algn="l">
              <a:spcBef>
                <a:spcPts val="0"/>
              </a:spcBef>
              <a:spcAft>
                <a:spcPts val="0"/>
              </a:spcAft>
              <a:buSzPts val="1630"/>
              <a:buChar char="●"/>
            </a:pPr>
            <a:r>
              <a:rPr lang="en" sz="1629"/>
              <a:t>By using pivot table, we find that average daily call volume is 250.24 calls per day.</a:t>
            </a:r>
            <a:endParaRPr sz="1629"/>
          </a:p>
          <a:p>
            <a:pPr indent="-332105" lvl="0" marL="457200" rtl="0" algn="l">
              <a:spcBef>
                <a:spcPts val="0"/>
              </a:spcBef>
              <a:spcAft>
                <a:spcPts val="0"/>
              </a:spcAft>
              <a:buSzPts val="1630"/>
              <a:buChar char="●"/>
            </a:pPr>
            <a:r>
              <a:rPr lang="en" sz="1629"/>
              <a:t>We can see in the chart that the number of calls are dropping day by day.</a:t>
            </a:r>
            <a:endParaRPr sz="1629"/>
          </a:p>
          <a:p>
            <a:pPr indent="-332105" lvl="0" marL="457200" rtl="0" algn="l">
              <a:spcBef>
                <a:spcPts val="0"/>
              </a:spcBef>
              <a:spcAft>
                <a:spcPts val="0"/>
              </a:spcAft>
              <a:buSzPts val="1630"/>
              <a:buChar char="●"/>
            </a:pPr>
            <a:r>
              <a:rPr lang="en" sz="1629"/>
              <a:t>Also we can see that on an average, a guru handles 1.88 calls per day. </a:t>
            </a:r>
            <a:endParaRPr sz="1629"/>
          </a:p>
          <a:p>
            <a:pPr indent="-332105" lvl="0" marL="457200" rtl="0" algn="l">
              <a:spcBef>
                <a:spcPts val="0"/>
              </a:spcBef>
              <a:spcAft>
                <a:spcPts val="0"/>
              </a:spcAft>
              <a:buSzPts val="1630"/>
              <a:buChar char="●"/>
            </a:pPr>
            <a:r>
              <a:rPr lang="en" sz="1629"/>
              <a:t>Average no of chats per day for each guru is 4.32. That gives total average of 6.2 interactions/ per guru per day.</a:t>
            </a:r>
            <a:endParaRPr sz="1629"/>
          </a:p>
          <a:p>
            <a:pPr indent="0" lvl="0" marL="0" rtl="0" algn="l">
              <a:spcBef>
                <a:spcPts val="1200"/>
              </a:spcBef>
              <a:spcAft>
                <a:spcPts val="0"/>
              </a:spcAft>
              <a:buSzPts val="935"/>
              <a:buNone/>
            </a:pPr>
            <a:r>
              <a:rPr b="1" lang="en" sz="1629">
                <a:solidFill>
                  <a:srgbClr val="E69138"/>
                </a:solidFill>
              </a:rPr>
              <a:t>   </a:t>
            </a:r>
            <a:r>
              <a:rPr b="1" lang="en" sz="1530">
                <a:solidFill>
                  <a:srgbClr val="E69138"/>
                </a:solidFill>
              </a:rPr>
              <a:t>Conclusion:</a:t>
            </a:r>
            <a:endParaRPr b="1" sz="1530">
              <a:solidFill>
                <a:srgbClr val="E69138"/>
              </a:solidFill>
            </a:endParaRPr>
          </a:p>
          <a:p>
            <a:pPr indent="0" lvl="0" marL="457200" rtl="0" algn="l">
              <a:spcBef>
                <a:spcPts val="1200"/>
              </a:spcBef>
              <a:spcAft>
                <a:spcPts val="1200"/>
              </a:spcAft>
              <a:buSzPts val="935"/>
              <a:buNone/>
            </a:pPr>
            <a:r>
              <a:rPr lang="en" sz="1629"/>
              <a:t>We don’t need to hire more agents. But we have to do something about dropping volume of sessions.</a:t>
            </a:r>
            <a:endParaRPr sz="1629"/>
          </a:p>
        </p:txBody>
      </p:sp>
      <p:pic>
        <p:nvPicPr>
          <p:cNvPr id="135" name="Google Shape;135;p26" title="Chart"/>
          <p:cNvPicPr preferRelativeResize="0"/>
          <p:nvPr/>
        </p:nvPicPr>
        <p:blipFill>
          <a:blip r:embed="rId3">
            <a:alphaModFix/>
          </a:blip>
          <a:stretch>
            <a:fillRect/>
          </a:stretch>
        </p:blipFill>
        <p:spPr>
          <a:xfrm>
            <a:off x="644600" y="764200"/>
            <a:ext cx="3363363" cy="2081850"/>
          </a:xfrm>
          <a:prstGeom prst="rect">
            <a:avLst/>
          </a:prstGeom>
          <a:noFill/>
          <a:ln>
            <a:noFill/>
          </a:ln>
        </p:spPr>
      </p:pic>
      <p:pic>
        <p:nvPicPr>
          <p:cNvPr id="136" name="Google Shape;136;p26" title="Chart"/>
          <p:cNvPicPr preferRelativeResize="0"/>
          <p:nvPr/>
        </p:nvPicPr>
        <p:blipFill>
          <a:blip r:embed="rId4">
            <a:alphaModFix/>
          </a:blip>
          <a:stretch>
            <a:fillRect/>
          </a:stretch>
        </p:blipFill>
        <p:spPr>
          <a:xfrm>
            <a:off x="644600" y="2846050"/>
            <a:ext cx="3361251" cy="2081850"/>
          </a:xfrm>
          <a:prstGeom prst="rect">
            <a:avLst/>
          </a:prstGeom>
          <a:noFill/>
          <a:ln>
            <a:noFill/>
          </a:ln>
        </p:spPr>
      </p:pic>
      <p:sp>
        <p:nvSpPr>
          <p:cNvPr id="137" name="Google Shape;137;p26"/>
          <p:cNvSpPr txBox="1"/>
          <p:nvPr>
            <p:ph type="title"/>
          </p:nvPr>
        </p:nvSpPr>
        <p:spPr>
          <a:xfrm>
            <a:off x="311700" y="169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Volume trends </a:t>
            </a:r>
            <a:r>
              <a:rPr b="1" lang="en" sz="2520">
                <a:solidFill>
                  <a:srgbClr val="E69138"/>
                </a:solidFill>
              </a:rPr>
              <a:t>:</a:t>
            </a:r>
            <a:endParaRPr b="1" sz="2520">
              <a:solidFill>
                <a:srgbClr val="E6913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idx="1" type="body"/>
          </p:nvPr>
        </p:nvSpPr>
        <p:spPr>
          <a:xfrm>
            <a:off x="285563" y="900300"/>
            <a:ext cx="8057100" cy="14502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We can see that volume of sessions( chat &amp; call) is highly unevenly distributed among gurus, with top gurus handling 1000+ interactions in month, and bottom gurus nearly handling in single digit.</a:t>
            </a:r>
            <a:endParaRPr sz="1600"/>
          </a:p>
        </p:txBody>
      </p:sp>
      <p:sp>
        <p:nvSpPr>
          <p:cNvPr id="143" name="Google Shape;143;p27"/>
          <p:cNvSpPr txBox="1"/>
          <p:nvPr>
            <p:ph type="title"/>
          </p:nvPr>
        </p:nvSpPr>
        <p:spPr>
          <a:xfrm>
            <a:off x="311700" y="2131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Distribution</a:t>
            </a:r>
            <a:r>
              <a:rPr b="1" lang="en" sz="2520">
                <a:solidFill>
                  <a:srgbClr val="E69138"/>
                </a:solidFill>
              </a:rPr>
              <a:t> of Volume among gurus</a:t>
            </a:r>
            <a:r>
              <a:rPr b="1" lang="en" sz="2520">
                <a:solidFill>
                  <a:srgbClr val="E69138"/>
                </a:solidFill>
              </a:rPr>
              <a:t> </a:t>
            </a:r>
            <a:r>
              <a:rPr b="1" lang="en" sz="2520">
                <a:solidFill>
                  <a:srgbClr val="E69138"/>
                </a:solidFill>
              </a:rPr>
              <a:t>:</a:t>
            </a:r>
            <a:endParaRPr b="1" sz="2520">
              <a:solidFill>
                <a:srgbClr val="E69138"/>
              </a:solidFill>
            </a:endParaRPr>
          </a:p>
        </p:txBody>
      </p:sp>
      <p:pic>
        <p:nvPicPr>
          <p:cNvPr id="144" name="Google Shape;144;p27" title="Chart"/>
          <p:cNvPicPr preferRelativeResize="0"/>
          <p:nvPr/>
        </p:nvPicPr>
        <p:blipFill>
          <a:blip r:embed="rId3">
            <a:alphaModFix/>
          </a:blip>
          <a:stretch>
            <a:fillRect/>
          </a:stretch>
        </p:blipFill>
        <p:spPr>
          <a:xfrm>
            <a:off x="1272988" y="2464925"/>
            <a:ext cx="6082226" cy="2484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idx="1" type="body"/>
          </p:nvPr>
        </p:nvSpPr>
        <p:spPr>
          <a:xfrm>
            <a:off x="486525" y="1022250"/>
            <a:ext cx="31707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b="1" lang="en" sz="1600">
                <a:solidFill>
                  <a:srgbClr val="E69138"/>
                </a:solidFill>
              </a:rPr>
              <a:t>Conclusion:</a:t>
            </a:r>
            <a:r>
              <a:rPr lang="en" sz="1600"/>
              <a:t> Possibly some gurus are more famous by preference &amp; top gurus are usually working full time and bottom ones are just doing part time.</a:t>
            </a:r>
            <a:endParaRPr/>
          </a:p>
        </p:txBody>
      </p:sp>
      <p:sp>
        <p:nvSpPr>
          <p:cNvPr id="150" name="Google Shape;150;p28"/>
          <p:cNvSpPr txBox="1"/>
          <p:nvPr>
            <p:ph type="title"/>
          </p:nvPr>
        </p:nvSpPr>
        <p:spPr>
          <a:xfrm>
            <a:off x="311700" y="1679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Distribution of Volume among gurus (continued) :</a:t>
            </a:r>
            <a:endParaRPr b="1" sz="2520">
              <a:solidFill>
                <a:srgbClr val="E69138"/>
              </a:solidFill>
            </a:endParaRPr>
          </a:p>
        </p:txBody>
      </p:sp>
      <p:pic>
        <p:nvPicPr>
          <p:cNvPr id="151" name="Google Shape;151;p28" title="Chart"/>
          <p:cNvPicPr preferRelativeResize="0"/>
          <p:nvPr/>
        </p:nvPicPr>
        <p:blipFill>
          <a:blip r:embed="rId3">
            <a:alphaModFix/>
          </a:blip>
          <a:stretch>
            <a:fillRect/>
          </a:stretch>
        </p:blipFill>
        <p:spPr>
          <a:xfrm>
            <a:off x="3839325" y="1252350"/>
            <a:ext cx="4919776" cy="2538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2580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Volume Distribution with Hour :</a:t>
            </a:r>
            <a:endParaRPr b="1" sz="2520">
              <a:solidFill>
                <a:srgbClr val="E69138"/>
              </a:solidFill>
            </a:endParaRPr>
          </a:p>
        </p:txBody>
      </p:sp>
      <p:sp>
        <p:nvSpPr>
          <p:cNvPr id="157" name="Google Shape;157;p29"/>
          <p:cNvSpPr txBox="1"/>
          <p:nvPr>
            <p:ph idx="1" type="body"/>
          </p:nvPr>
        </p:nvSpPr>
        <p:spPr>
          <a:xfrm>
            <a:off x="267200" y="830775"/>
            <a:ext cx="4504200" cy="38784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Taking Volume/ hour &gt; 1000 as peak hour we have time from 4:00 to 18:00.</a:t>
            </a:r>
            <a:endParaRPr sz="1600"/>
          </a:p>
          <a:p>
            <a:pPr indent="-330200" lvl="0" marL="457200" rtl="0" algn="l">
              <a:lnSpc>
                <a:spcPct val="150000"/>
              </a:lnSpc>
              <a:spcBef>
                <a:spcPts val="0"/>
              </a:spcBef>
              <a:spcAft>
                <a:spcPts val="0"/>
              </a:spcAft>
              <a:buSzPts val="1600"/>
              <a:buChar char="●"/>
            </a:pPr>
            <a:r>
              <a:rPr lang="en" sz="1600"/>
              <a:t>After calculating, we get interactions/ per guru in a day is 5.29.</a:t>
            </a:r>
            <a:endParaRPr sz="1600"/>
          </a:p>
          <a:p>
            <a:pPr indent="-330200" lvl="0" marL="457200" rtl="0" algn="l">
              <a:lnSpc>
                <a:spcPct val="150000"/>
              </a:lnSpc>
              <a:spcBef>
                <a:spcPts val="0"/>
              </a:spcBef>
              <a:spcAft>
                <a:spcPts val="0"/>
              </a:spcAft>
              <a:buSzPts val="1600"/>
              <a:buChar char="●"/>
            </a:pPr>
            <a:r>
              <a:rPr lang="en" sz="1600"/>
              <a:t>As we can see the value at peak hour is 8.40. Which means 35.48% more volume at peak hour.</a:t>
            </a:r>
            <a:endParaRPr sz="1600"/>
          </a:p>
          <a:p>
            <a:pPr indent="0" lvl="0" marL="0" rtl="0" algn="l">
              <a:lnSpc>
                <a:spcPct val="150000"/>
              </a:lnSpc>
              <a:spcBef>
                <a:spcPts val="1200"/>
              </a:spcBef>
              <a:spcAft>
                <a:spcPts val="1200"/>
              </a:spcAft>
              <a:buNone/>
            </a:pPr>
            <a:r>
              <a:rPr b="1" lang="en" sz="1600">
                <a:solidFill>
                  <a:srgbClr val="E69138"/>
                </a:solidFill>
              </a:rPr>
              <a:t>C</a:t>
            </a:r>
            <a:r>
              <a:rPr b="1" lang="en" sz="1600">
                <a:solidFill>
                  <a:srgbClr val="E69138"/>
                </a:solidFill>
              </a:rPr>
              <a:t>onclusion: </a:t>
            </a:r>
            <a:r>
              <a:rPr lang="en" sz="1600">
                <a:solidFill>
                  <a:srgbClr val="434343"/>
                </a:solidFill>
              </a:rPr>
              <a:t>To make it less burden on top gurus, tech should diversify &amp; divert traffic to well rated, low user_count gurus.</a:t>
            </a:r>
            <a:endParaRPr sz="1600">
              <a:solidFill>
                <a:srgbClr val="434343"/>
              </a:solidFill>
            </a:endParaRPr>
          </a:p>
        </p:txBody>
      </p:sp>
      <p:pic>
        <p:nvPicPr>
          <p:cNvPr id="158" name="Google Shape;158;p29" title="Chart"/>
          <p:cNvPicPr preferRelativeResize="0"/>
          <p:nvPr/>
        </p:nvPicPr>
        <p:blipFill>
          <a:blip r:embed="rId3">
            <a:alphaModFix/>
          </a:blip>
          <a:stretch>
            <a:fillRect/>
          </a:stretch>
        </p:blipFill>
        <p:spPr>
          <a:xfrm>
            <a:off x="4888170" y="907978"/>
            <a:ext cx="4212325" cy="2352025"/>
          </a:xfrm>
          <a:prstGeom prst="rect">
            <a:avLst/>
          </a:prstGeom>
          <a:noFill/>
          <a:ln>
            <a:noFill/>
          </a:ln>
        </p:spPr>
      </p:pic>
      <p:graphicFrame>
        <p:nvGraphicFramePr>
          <p:cNvPr id="159" name="Google Shape;159;p29"/>
          <p:cNvGraphicFramePr/>
          <p:nvPr/>
        </p:nvGraphicFramePr>
        <p:xfrm>
          <a:off x="5507738" y="3337200"/>
          <a:ext cx="3000000" cy="3000000"/>
        </p:xfrm>
        <a:graphic>
          <a:graphicData uri="http://schemas.openxmlformats.org/drawingml/2006/table">
            <a:tbl>
              <a:tblPr>
                <a:noFill/>
                <a:tableStyleId>{64EB09BC-1F69-498C-B192-AAF41872FB54}</a:tableStyleId>
              </a:tblPr>
              <a:tblGrid>
                <a:gridCol w="2334775"/>
                <a:gridCol w="914425"/>
              </a:tblGrid>
              <a:tr h="693125">
                <a:tc>
                  <a:txBody>
                    <a:bodyPr/>
                    <a:lstStyle/>
                    <a:p>
                      <a:pPr indent="0" lvl="0" marL="0" rtl="0" algn="l">
                        <a:lnSpc>
                          <a:spcPct val="115000"/>
                        </a:lnSpc>
                        <a:spcBef>
                          <a:spcPts val="0"/>
                        </a:spcBef>
                        <a:spcAft>
                          <a:spcPts val="0"/>
                        </a:spcAft>
                        <a:buNone/>
                      </a:pPr>
                      <a:r>
                        <a:rPr lang="en" sz="1300"/>
                        <a:t>Average interactions per guru at peak hour per day</a:t>
                      </a:r>
                      <a:endParaRPr sz="13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8.40</a:t>
                      </a:r>
                      <a:endParaRPr sz="13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575">
                <a:tc>
                  <a:txBody>
                    <a:bodyPr/>
                    <a:lstStyle/>
                    <a:p>
                      <a:pPr indent="0" lvl="0" marL="0" rtl="0" algn="l">
                        <a:lnSpc>
                          <a:spcPct val="115000"/>
                        </a:lnSpc>
                        <a:spcBef>
                          <a:spcPts val="0"/>
                        </a:spcBef>
                        <a:spcAft>
                          <a:spcPts val="0"/>
                        </a:spcAft>
                        <a:buNone/>
                      </a:pPr>
                      <a:r>
                        <a:rPr lang="en" sz="1300"/>
                        <a:t>Average interactions per guru per day</a:t>
                      </a:r>
                      <a:endParaRPr sz="1300"/>
                    </a:p>
                  </a:txBody>
                  <a:tcPr marT="91425" marB="91425"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300"/>
                        <a:t>6.20</a:t>
                      </a:r>
                      <a:endParaRPr sz="13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idx="1" type="body"/>
          </p:nvPr>
        </p:nvSpPr>
        <p:spPr>
          <a:xfrm>
            <a:off x="302800" y="912125"/>
            <a:ext cx="8448600" cy="14454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Call ratings have range 0 to 5, &amp; are almost evenly distributed between ratings 2 to 5.</a:t>
            </a:r>
            <a:endParaRPr sz="1600"/>
          </a:p>
          <a:p>
            <a:pPr indent="-330200" lvl="0" marL="457200" rtl="0" algn="l">
              <a:lnSpc>
                <a:spcPct val="150000"/>
              </a:lnSpc>
              <a:spcBef>
                <a:spcPts val="0"/>
              </a:spcBef>
              <a:spcAft>
                <a:spcPts val="0"/>
              </a:spcAft>
              <a:buSzPts val="1600"/>
              <a:buChar char="●"/>
            </a:pPr>
            <a:r>
              <a:rPr lang="en" sz="1600"/>
              <a:t>We have 13.9% call failure rate, that is a concern.</a:t>
            </a:r>
            <a:endParaRPr sz="1600"/>
          </a:p>
          <a:p>
            <a:pPr indent="-330200" lvl="0" marL="457200" rtl="0" algn="l">
              <a:lnSpc>
                <a:spcPct val="150000"/>
              </a:lnSpc>
              <a:spcBef>
                <a:spcPts val="0"/>
              </a:spcBef>
              <a:spcAft>
                <a:spcPts val="0"/>
              </a:spcAft>
              <a:buSzPts val="1600"/>
              <a:buChar char="●"/>
            </a:pPr>
            <a:r>
              <a:rPr lang="en" sz="1600"/>
              <a:t>Only 40.6% calls are marked complete.</a:t>
            </a:r>
            <a:endParaRPr sz="1600"/>
          </a:p>
        </p:txBody>
      </p:sp>
      <p:sp>
        <p:nvSpPr>
          <p:cNvPr id="165" name="Google Shape;165;p30"/>
          <p:cNvSpPr txBox="1"/>
          <p:nvPr>
            <p:ph type="title"/>
          </p:nvPr>
        </p:nvSpPr>
        <p:spPr>
          <a:xfrm>
            <a:off x="267175" y="2670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Call Status &amp; Ratings :</a:t>
            </a:r>
            <a:endParaRPr b="1" sz="2520">
              <a:solidFill>
                <a:srgbClr val="E69138"/>
              </a:solidFill>
            </a:endParaRPr>
          </a:p>
        </p:txBody>
      </p:sp>
      <p:pic>
        <p:nvPicPr>
          <p:cNvPr id="166" name="Google Shape;166;p30" title="Chart"/>
          <p:cNvPicPr preferRelativeResize="0"/>
          <p:nvPr/>
        </p:nvPicPr>
        <p:blipFill>
          <a:blip r:embed="rId3">
            <a:alphaModFix/>
          </a:blip>
          <a:stretch>
            <a:fillRect/>
          </a:stretch>
        </p:blipFill>
        <p:spPr>
          <a:xfrm>
            <a:off x="5111125" y="2259200"/>
            <a:ext cx="3302100" cy="2038101"/>
          </a:xfrm>
          <a:prstGeom prst="rect">
            <a:avLst/>
          </a:prstGeom>
          <a:noFill/>
          <a:ln>
            <a:noFill/>
          </a:ln>
        </p:spPr>
      </p:pic>
      <p:pic>
        <p:nvPicPr>
          <p:cNvPr id="167" name="Google Shape;167;p30" title="Chart"/>
          <p:cNvPicPr preferRelativeResize="0"/>
          <p:nvPr/>
        </p:nvPicPr>
        <p:blipFill>
          <a:blip r:embed="rId4">
            <a:alphaModFix/>
          </a:blip>
          <a:stretch>
            <a:fillRect/>
          </a:stretch>
        </p:blipFill>
        <p:spPr>
          <a:xfrm>
            <a:off x="1066850" y="2357525"/>
            <a:ext cx="2804801" cy="20381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idx="1" type="body"/>
          </p:nvPr>
        </p:nvSpPr>
        <p:spPr>
          <a:xfrm>
            <a:off x="368075" y="1118925"/>
            <a:ext cx="49719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1"/>
              </a:buClr>
              <a:buSzPts val="1018"/>
              <a:buFont typeface="Arial"/>
              <a:buNone/>
            </a:pPr>
            <a:r>
              <a:rPr b="1" lang="en" sz="1600">
                <a:solidFill>
                  <a:srgbClr val="E69138"/>
                </a:solidFill>
              </a:rPr>
              <a:t>Conclusion:</a:t>
            </a:r>
            <a:r>
              <a:rPr lang="en" sz="1600">
                <a:solidFill>
                  <a:srgbClr val="E69138"/>
                </a:solidFill>
              </a:rPr>
              <a:t> </a:t>
            </a:r>
            <a:r>
              <a:rPr lang="en" sz="1600"/>
              <a:t>Focusing on personalized training, technological advancements, efficient call routing, and data-driven workforce optimization can substantially enhance operational efficiency, reduce call failures, and elevate the overall customer experience for AstroSage users.</a:t>
            </a:r>
            <a:endParaRPr sz="1600"/>
          </a:p>
          <a:p>
            <a:pPr indent="0" lvl="0" marL="0" rtl="0" algn="l">
              <a:spcBef>
                <a:spcPts val="1200"/>
              </a:spcBef>
              <a:spcAft>
                <a:spcPts val="1200"/>
              </a:spcAft>
              <a:buNone/>
            </a:pPr>
            <a:r>
              <a:t/>
            </a:r>
            <a:endParaRPr/>
          </a:p>
        </p:txBody>
      </p:sp>
      <p:sp>
        <p:nvSpPr>
          <p:cNvPr id="173" name="Google Shape;173;p31"/>
          <p:cNvSpPr txBox="1"/>
          <p:nvPr>
            <p:ph type="title"/>
          </p:nvPr>
        </p:nvSpPr>
        <p:spPr>
          <a:xfrm>
            <a:off x="267175" y="2670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Call Status &amp; Ratings (continued) :</a:t>
            </a:r>
            <a:endParaRPr b="1" sz="2520">
              <a:solidFill>
                <a:srgbClr val="E69138"/>
              </a:solidFill>
            </a:endParaRPr>
          </a:p>
        </p:txBody>
      </p:sp>
      <p:pic>
        <p:nvPicPr>
          <p:cNvPr id="174" name="Google Shape;174;p31" title="Chart"/>
          <p:cNvPicPr preferRelativeResize="0"/>
          <p:nvPr/>
        </p:nvPicPr>
        <p:blipFill>
          <a:blip r:embed="rId3">
            <a:alphaModFix/>
          </a:blip>
          <a:stretch>
            <a:fillRect/>
          </a:stretch>
        </p:blipFill>
        <p:spPr>
          <a:xfrm>
            <a:off x="5436000" y="992100"/>
            <a:ext cx="3555600" cy="247531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idx="1" type="body"/>
          </p:nvPr>
        </p:nvSpPr>
        <p:spPr>
          <a:xfrm>
            <a:off x="267175" y="938325"/>
            <a:ext cx="4424700" cy="38703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 sz="1600"/>
              <a:t>Only 28.4% are marked complete.</a:t>
            </a:r>
            <a:endParaRPr sz="1600"/>
          </a:p>
          <a:p>
            <a:pPr indent="-330200" lvl="0" marL="457200" rtl="0" algn="l">
              <a:lnSpc>
                <a:spcPct val="150000"/>
              </a:lnSpc>
              <a:spcBef>
                <a:spcPts val="0"/>
              </a:spcBef>
              <a:spcAft>
                <a:spcPts val="0"/>
              </a:spcAft>
              <a:buSzPts val="1600"/>
              <a:buChar char="●"/>
            </a:pPr>
            <a:r>
              <a:rPr lang="en" sz="1600"/>
              <a:t>Interesting point to be noted is all 7255 ratings of value 0 are originating from only 7255 chat records, where the status is failed. This 0 rating is skewing our overall chat ratings.</a:t>
            </a:r>
            <a:endParaRPr sz="1600"/>
          </a:p>
          <a:p>
            <a:pPr indent="-330200" lvl="0" marL="457200" rtl="0" algn="l">
              <a:lnSpc>
                <a:spcPct val="150000"/>
              </a:lnSpc>
              <a:spcBef>
                <a:spcPts val="0"/>
              </a:spcBef>
              <a:spcAft>
                <a:spcPts val="0"/>
              </a:spcAft>
              <a:buSzPts val="1600"/>
              <a:buChar char="●"/>
            </a:pPr>
            <a:r>
              <a:rPr lang="en" sz="1600"/>
              <a:t>Also there are missing values of 4,5 ratings.</a:t>
            </a:r>
            <a:endParaRPr sz="1600"/>
          </a:p>
          <a:p>
            <a:pPr indent="-330200" lvl="0" marL="457200" rtl="0" algn="l">
              <a:lnSpc>
                <a:spcPct val="150000"/>
              </a:lnSpc>
              <a:spcBef>
                <a:spcPts val="0"/>
              </a:spcBef>
              <a:spcAft>
                <a:spcPts val="0"/>
              </a:spcAft>
              <a:buSzPts val="1600"/>
              <a:buChar char="●"/>
            </a:pPr>
            <a:r>
              <a:rPr lang="en" sz="1600"/>
              <a:t>Average rating without failed is 4.28, not bad.</a:t>
            </a:r>
            <a:endParaRPr sz="1600"/>
          </a:p>
        </p:txBody>
      </p:sp>
      <p:pic>
        <p:nvPicPr>
          <p:cNvPr id="180" name="Google Shape;180;p32" title="Chart"/>
          <p:cNvPicPr preferRelativeResize="0"/>
          <p:nvPr/>
        </p:nvPicPr>
        <p:blipFill>
          <a:blip r:embed="rId3">
            <a:alphaModFix/>
          </a:blip>
          <a:stretch>
            <a:fillRect/>
          </a:stretch>
        </p:blipFill>
        <p:spPr>
          <a:xfrm>
            <a:off x="5297350" y="483450"/>
            <a:ext cx="3636001" cy="2056350"/>
          </a:xfrm>
          <a:prstGeom prst="rect">
            <a:avLst/>
          </a:prstGeom>
          <a:noFill/>
          <a:ln>
            <a:noFill/>
          </a:ln>
        </p:spPr>
      </p:pic>
      <p:sp>
        <p:nvSpPr>
          <p:cNvPr id="181" name="Google Shape;181;p32"/>
          <p:cNvSpPr txBox="1"/>
          <p:nvPr>
            <p:ph type="title"/>
          </p:nvPr>
        </p:nvSpPr>
        <p:spPr>
          <a:xfrm>
            <a:off x="267175" y="267000"/>
            <a:ext cx="5134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Chat Status &amp; Ratings :</a:t>
            </a:r>
            <a:endParaRPr b="1" sz="2520">
              <a:solidFill>
                <a:srgbClr val="E69138"/>
              </a:solidFill>
            </a:endParaRPr>
          </a:p>
        </p:txBody>
      </p:sp>
      <p:pic>
        <p:nvPicPr>
          <p:cNvPr id="182" name="Google Shape;182;p32" title="Chart"/>
          <p:cNvPicPr preferRelativeResize="0"/>
          <p:nvPr/>
        </p:nvPicPr>
        <p:blipFill>
          <a:blip r:embed="rId4">
            <a:alphaModFix/>
          </a:blip>
          <a:stretch>
            <a:fillRect/>
          </a:stretch>
        </p:blipFill>
        <p:spPr>
          <a:xfrm>
            <a:off x="5297350" y="2691100"/>
            <a:ext cx="3475525" cy="2180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idx="1" type="body"/>
          </p:nvPr>
        </p:nvSpPr>
        <p:spPr>
          <a:xfrm>
            <a:off x="424450" y="941400"/>
            <a:ext cx="5033700" cy="35571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sz="1600">
                <a:solidFill>
                  <a:srgbClr val="E69138"/>
                </a:solidFill>
              </a:rPr>
              <a:t>Conclusion : </a:t>
            </a:r>
            <a:endParaRPr b="1" sz="1600">
              <a:solidFill>
                <a:srgbClr val="E69138"/>
              </a:solidFill>
            </a:endParaRPr>
          </a:p>
          <a:p>
            <a:pPr indent="-330200" lvl="0" marL="457200" rtl="0" algn="l">
              <a:lnSpc>
                <a:spcPct val="150000"/>
              </a:lnSpc>
              <a:spcBef>
                <a:spcPts val="1200"/>
              </a:spcBef>
              <a:spcAft>
                <a:spcPts val="0"/>
              </a:spcAft>
              <a:buSzPts val="1600"/>
              <a:buChar char="●"/>
            </a:pPr>
            <a:r>
              <a:rPr lang="en" sz="1600"/>
              <a:t>The reason is unclear, may be the tech that defines &amp; decides what a chat status is, is not upto mark. Rating might be automatically taking as 0 when user leaves without ending a conversation ,or finishing rating his chat.</a:t>
            </a:r>
            <a:endParaRPr sz="1600"/>
          </a:p>
          <a:p>
            <a:pPr indent="-330200" lvl="0" marL="457200" rtl="0" algn="l">
              <a:lnSpc>
                <a:spcPct val="150000"/>
              </a:lnSpc>
              <a:spcBef>
                <a:spcPts val="0"/>
              </a:spcBef>
              <a:spcAft>
                <a:spcPts val="0"/>
              </a:spcAft>
              <a:buSzPts val="1600"/>
              <a:buChar char="●"/>
            </a:pPr>
            <a:r>
              <a:rPr lang="en" sz="1600"/>
              <a:t>Implementing AI chatbots could ensure lower response times &amp; lower failed/Incomplete rates.</a:t>
            </a:r>
            <a:endParaRPr sz="1600"/>
          </a:p>
        </p:txBody>
      </p:sp>
      <p:pic>
        <p:nvPicPr>
          <p:cNvPr id="188" name="Google Shape;188;p33" title="Chart"/>
          <p:cNvPicPr preferRelativeResize="0"/>
          <p:nvPr/>
        </p:nvPicPr>
        <p:blipFill>
          <a:blip r:embed="rId3">
            <a:alphaModFix/>
          </a:blip>
          <a:stretch>
            <a:fillRect/>
          </a:stretch>
        </p:blipFill>
        <p:spPr>
          <a:xfrm>
            <a:off x="5538375" y="1342351"/>
            <a:ext cx="3220726" cy="2242175"/>
          </a:xfrm>
          <a:prstGeom prst="rect">
            <a:avLst/>
          </a:prstGeom>
          <a:noFill/>
          <a:ln>
            <a:noFill/>
          </a:ln>
        </p:spPr>
      </p:pic>
      <p:sp>
        <p:nvSpPr>
          <p:cNvPr id="189" name="Google Shape;189;p33"/>
          <p:cNvSpPr txBox="1"/>
          <p:nvPr>
            <p:ph type="title"/>
          </p:nvPr>
        </p:nvSpPr>
        <p:spPr>
          <a:xfrm>
            <a:off x="267175" y="267000"/>
            <a:ext cx="5939400" cy="67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520">
                <a:solidFill>
                  <a:srgbClr val="E69138"/>
                </a:solidFill>
              </a:rPr>
              <a:t>Chat Status &amp; Ratings (continued) :</a:t>
            </a:r>
            <a:endParaRPr b="1" sz="2520">
              <a:solidFill>
                <a:srgbClr val="E6913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type="title"/>
          </p:nvPr>
        </p:nvSpPr>
        <p:spPr>
          <a:xfrm>
            <a:off x="276475" y="217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69138"/>
                </a:solidFill>
              </a:rPr>
              <a:t>Revenue :</a:t>
            </a:r>
            <a:endParaRPr b="1">
              <a:solidFill>
                <a:srgbClr val="E69138"/>
              </a:solidFill>
            </a:endParaRPr>
          </a:p>
        </p:txBody>
      </p:sp>
      <p:sp>
        <p:nvSpPr>
          <p:cNvPr id="195" name="Google Shape;195;p34"/>
          <p:cNvSpPr txBox="1"/>
          <p:nvPr>
            <p:ph idx="1" type="body"/>
          </p:nvPr>
        </p:nvSpPr>
        <p:spPr>
          <a:xfrm>
            <a:off x="261150" y="719900"/>
            <a:ext cx="4782900" cy="3898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600"/>
              <a:t>Even though calls account for 30.36% of total volume, they contribute to 78.72% of the total revenue.</a:t>
            </a:r>
            <a:endParaRPr sz="1600"/>
          </a:p>
          <a:p>
            <a:pPr indent="0" lvl="0" marL="0" rtl="0" algn="l">
              <a:lnSpc>
                <a:spcPct val="150000"/>
              </a:lnSpc>
              <a:spcBef>
                <a:spcPts val="1200"/>
              </a:spcBef>
              <a:spcAft>
                <a:spcPts val="1200"/>
              </a:spcAft>
              <a:buNone/>
            </a:pPr>
            <a:r>
              <a:rPr b="1" lang="en" sz="1600">
                <a:solidFill>
                  <a:srgbClr val="E69138"/>
                </a:solidFill>
              </a:rPr>
              <a:t>Guesstimate :</a:t>
            </a:r>
            <a:r>
              <a:rPr lang="en" sz="1600"/>
              <a:t> If 10344 users created Rs. 213K in Revenue &amp; Rs. 115K profit in 1 month, 11 Million active users could generate a Rs. 24 Cr in revenue and Rs. 12.23 Cr in profit per month.</a:t>
            </a:r>
            <a:endParaRPr/>
          </a:p>
        </p:txBody>
      </p:sp>
      <p:pic>
        <p:nvPicPr>
          <p:cNvPr id="196" name="Google Shape;196;p34" title="Chart"/>
          <p:cNvPicPr preferRelativeResize="0"/>
          <p:nvPr/>
        </p:nvPicPr>
        <p:blipFill>
          <a:blip r:embed="rId3">
            <a:alphaModFix/>
          </a:blip>
          <a:stretch>
            <a:fillRect/>
          </a:stretch>
        </p:blipFill>
        <p:spPr>
          <a:xfrm>
            <a:off x="5602525" y="513712"/>
            <a:ext cx="3445799" cy="2316424"/>
          </a:xfrm>
          <a:prstGeom prst="rect">
            <a:avLst/>
          </a:prstGeom>
          <a:noFill/>
          <a:ln>
            <a:noFill/>
          </a:ln>
        </p:spPr>
      </p:pic>
      <p:graphicFrame>
        <p:nvGraphicFramePr>
          <p:cNvPr id="197" name="Google Shape;197;p34"/>
          <p:cNvGraphicFramePr/>
          <p:nvPr/>
        </p:nvGraphicFramePr>
        <p:xfrm>
          <a:off x="5925950" y="2830125"/>
          <a:ext cx="3000000" cy="3000000"/>
        </p:xfrm>
        <a:graphic>
          <a:graphicData uri="http://schemas.openxmlformats.org/drawingml/2006/table">
            <a:tbl>
              <a:tblPr>
                <a:noFill/>
                <a:tableStyleId>{64EB09BC-1F69-498C-B192-AAF41872FB54}</a:tableStyleId>
              </a:tblPr>
              <a:tblGrid>
                <a:gridCol w="1262100"/>
                <a:gridCol w="1262100"/>
              </a:tblGrid>
              <a:tr h="316575">
                <a:tc>
                  <a:txBody>
                    <a:bodyPr/>
                    <a:lstStyle/>
                    <a:p>
                      <a:pPr indent="0" lvl="0" marL="0" rtl="0" algn="l">
                        <a:lnSpc>
                          <a:spcPct val="115000"/>
                        </a:lnSpc>
                        <a:spcBef>
                          <a:spcPts val="0"/>
                        </a:spcBef>
                        <a:spcAft>
                          <a:spcPts val="0"/>
                        </a:spcAft>
                        <a:buNone/>
                      </a:pPr>
                      <a:r>
                        <a:rPr i="1" lang="en" sz="1000"/>
                        <a:t>consultationType</a:t>
                      </a:r>
                      <a:endParaRPr i="1" sz="1000"/>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6883A4"/>
                      </a:solidFill>
                      <a:prstDash val="solid"/>
                      <a:round/>
                      <a:headEnd len="sm" w="sm" type="none"/>
                      <a:tailEnd len="sm" w="sm" type="none"/>
                    </a:lnB>
                    <a:solidFill>
                      <a:srgbClr val="D9E0E8"/>
                    </a:solidFill>
                  </a:tcPr>
                </a:tc>
                <a:tc>
                  <a:txBody>
                    <a:bodyPr/>
                    <a:lstStyle/>
                    <a:p>
                      <a:pPr indent="0" lvl="0" marL="0" rtl="0" algn="l">
                        <a:lnSpc>
                          <a:spcPct val="115000"/>
                        </a:lnSpc>
                        <a:spcBef>
                          <a:spcPts val="0"/>
                        </a:spcBef>
                        <a:spcAft>
                          <a:spcPts val="0"/>
                        </a:spcAft>
                        <a:buNone/>
                      </a:pPr>
                      <a:r>
                        <a:rPr lang="en" sz="1000">
                          <a:solidFill>
                            <a:srgbClr val="FFFFFF"/>
                          </a:solidFill>
                        </a:rPr>
                        <a:t>SUM of netAmount</a:t>
                      </a:r>
                      <a:endParaRPr sz="1000">
                        <a:solidFill>
                          <a:srgbClr val="FFFFFF"/>
                        </a:solidFill>
                      </a:endParaRPr>
                    </a:p>
                  </a:txBody>
                  <a:tcPr marT="91425" marB="91425"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6883A4"/>
                      </a:solidFill>
                      <a:prstDash val="solid"/>
                      <a:round/>
                      <a:headEnd len="sm" w="sm" type="none"/>
                      <a:tailEnd len="sm" w="sm" type="none"/>
                    </a:lnB>
                    <a:solidFill>
                      <a:srgbClr val="6883A4"/>
                    </a:solidFill>
                  </a:tcPr>
                </a:tc>
              </a:tr>
              <a:tr h="209225">
                <a:tc>
                  <a:txBody>
                    <a:bodyPr/>
                    <a:lstStyle/>
                    <a:p>
                      <a:pPr indent="0" lvl="0" marL="0" rtl="0" algn="l">
                        <a:lnSpc>
                          <a:spcPct val="115000"/>
                        </a:lnSpc>
                        <a:spcBef>
                          <a:spcPts val="0"/>
                        </a:spcBef>
                        <a:spcAft>
                          <a:spcPts val="0"/>
                        </a:spcAft>
                        <a:buNone/>
                      </a:pPr>
                      <a:r>
                        <a:rPr lang="en" sz="1000"/>
                        <a:t>Call</a:t>
                      </a:r>
                      <a:endParaRPr sz="1000"/>
                    </a:p>
                  </a:txBody>
                  <a:tcPr marT="91425" marB="91425" marR="28575" marL="28575" anchor="b">
                    <a:lnL cap="flat" cmpd="sng" w="9525">
                      <a:solidFill>
                        <a:srgbClr val="CCCCCC"/>
                      </a:solidFill>
                      <a:prstDash val="solid"/>
                      <a:round/>
                      <a:headEnd len="sm" w="sm" type="none"/>
                      <a:tailEnd len="sm" w="sm" type="none"/>
                    </a:lnL>
                    <a:lnR cap="flat" cmpd="sng" w="9525">
                      <a:solidFill>
                        <a:srgbClr val="FFFFFF"/>
                      </a:solidFill>
                      <a:prstDash val="solid"/>
                      <a:round/>
                      <a:headEnd len="sm" w="sm" type="none"/>
                      <a:tailEnd len="sm" w="sm" type="none"/>
                    </a:lnR>
                    <a:lnT cap="flat" cmpd="sng" w="28575">
                      <a:solidFill>
                        <a:srgbClr val="6883A4"/>
                      </a:solidFill>
                      <a:prstDash val="solid"/>
                      <a:round/>
                      <a:headEnd len="sm" w="sm" type="none"/>
                      <a:tailEnd len="sm" w="sm" type="none"/>
                    </a:lnT>
                    <a:lnB cap="flat" cmpd="sng" w="9525">
                      <a:solidFill>
                        <a:srgbClr val="CCCCCC"/>
                      </a:solidFill>
                      <a:prstDash val="solid"/>
                      <a:round/>
                      <a:headEnd len="sm" w="sm" type="none"/>
                      <a:tailEnd len="sm" w="sm" type="none"/>
                    </a:lnB>
                    <a:solidFill>
                      <a:srgbClr val="F2F5F7"/>
                    </a:solidFill>
                  </a:tcPr>
                </a:tc>
                <a:tc>
                  <a:txBody>
                    <a:bodyPr/>
                    <a:lstStyle/>
                    <a:p>
                      <a:pPr indent="0" lvl="0" marL="0" rtl="0" algn="r">
                        <a:lnSpc>
                          <a:spcPct val="115000"/>
                        </a:lnSpc>
                        <a:spcBef>
                          <a:spcPts val="0"/>
                        </a:spcBef>
                        <a:spcAft>
                          <a:spcPts val="0"/>
                        </a:spcAft>
                        <a:buNone/>
                      </a:pPr>
                      <a:r>
                        <a:rPr lang="en" sz="1000"/>
                        <a:t>168442.04</a:t>
                      </a:r>
                      <a:endParaRPr sz="1000"/>
                    </a:p>
                  </a:txBody>
                  <a:tcPr marT="91425" marB="91425" marR="28575" marL="28575" anchor="b">
                    <a:lnL cap="flat" cmpd="sng" w="9525">
                      <a:solidFill>
                        <a:srgbClr val="FFFFFF"/>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6883A4"/>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21925">
                <a:tc>
                  <a:txBody>
                    <a:bodyPr/>
                    <a:lstStyle/>
                    <a:p>
                      <a:pPr indent="0" lvl="0" marL="0" rtl="0" algn="l">
                        <a:lnSpc>
                          <a:spcPct val="115000"/>
                        </a:lnSpc>
                        <a:spcBef>
                          <a:spcPts val="0"/>
                        </a:spcBef>
                        <a:spcAft>
                          <a:spcPts val="0"/>
                        </a:spcAft>
                        <a:buNone/>
                      </a:pPr>
                      <a:r>
                        <a:rPr lang="en" sz="1000"/>
                        <a:t>Chat</a:t>
                      </a:r>
                      <a:endParaRPr sz="1000"/>
                    </a:p>
                  </a:txBody>
                  <a:tcPr marT="91425" marB="91425" marR="28575" marL="28575" anchor="b">
                    <a:lnL cap="flat" cmpd="sng" w="9525">
                      <a:solidFill>
                        <a:srgbClr val="CCCCCC"/>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2F5F7"/>
                    </a:solidFill>
                  </a:tcPr>
                </a:tc>
                <a:tc>
                  <a:txBody>
                    <a:bodyPr/>
                    <a:lstStyle/>
                    <a:p>
                      <a:pPr indent="0" lvl="0" marL="0" rtl="0" algn="r">
                        <a:lnSpc>
                          <a:spcPct val="115000"/>
                        </a:lnSpc>
                        <a:spcBef>
                          <a:spcPts val="0"/>
                        </a:spcBef>
                        <a:spcAft>
                          <a:spcPts val="0"/>
                        </a:spcAft>
                        <a:buNone/>
                      </a:pPr>
                      <a:r>
                        <a:rPr lang="en" sz="1000"/>
                        <a:t>45494.68</a:t>
                      </a:r>
                      <a:endParaRPr sz="1000"/>
                    </a:p>
                  </a:txBody>
                  <a:tcPr marT="91425" marB="91425" marR="28575" marL="28575" anchor="b">
                    <a:lnL cap="flat" cmpd="sng" w="9525">
                      <a:solidFill>
                        <a:srgbClr val="FFFFFF"/>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16250">
                <a:tc>
                  <a:txBody>
                    <a:bodyPr/>
                    <a:lstStyle/>
                    <a:p>
                      <a:pPr indent="0" lvl="0" marL="0" rtl="0" algn="l">
                        <a:lnSpc>
                          <a:spcPct val="115000"/>
                        </a:lnSpc>
                        <a:spcBef>
                          <a:spcPts val="0"/>
                        </a:spcBef>
                        <a:spcAft>
                          <a:spcPts val="0"/>
                        </a:spcAft>
                        <a:buNone/>
                      </a:pPr>
                      <a:r>
                        <a:rPr lang="en" sz="1000"/>
                        <a:t>Complementary</a:t>
                      </a:r>
                      <a:endParaRPr sz="1000"/>
                    </a:p>
                  </a:txBody>
                  <a:tcPr marT="91425" marB="91425" marR="28575" marL="28575" anchor="b">
                    <a:lnL cap="flat" cmpd="sng" w="9525">
                      <a:solidFill>
                        <a:srgbClr val="CCCCCC"/>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2F5F7"/>
                    </a:solidFill>
                  </a:tcPr>
                </a:tc>
                <a:tc>
                  <a:txBody>
                    <a:bodyPr/>
                    <a:lstStyle/>
                    <a:p>
                      <a:pPr indent="0" lvl="0" marL="0" rtl="0" algn="r">
                        <a:lnSpc>
                          <a:spcPct val="115000"/>
                        </a:lnSpc>
                        <a:spcBef>
                          <a:spcPts val="0"/>
                        </a:spcBef>
                        <a:spcAft>
                          <a:spcPts val="0"/>
                        </a:spcAft>
                        <a:buNone/>
                      </a:pPr>
                      <a:r>
                        <a:rPr lang="en" sz="1000"/>
                        <a:t>0</a:t>
                      </a:r>
                      <a:endParaRPr sz="1000"/>
                    </a:p>
                  </a:txBody>
                  <a:tcPr marT="91425" marB="91425" marR="28575" marL="28575" anchor="b">
                    <a:lnL cap="flat" cmpd="sng" w="9525">
                      <a:solidFill>
                        <a:srgbClr val="FFFFFF"/>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32725">
                <a:tc>
                  <a:txBody>
                    <a:bodyPr/>
                    <a:lstStyle/>
                    <a:p>
                      <a:pPr indent="0" lvl="0" marL="0" rtl="0" algn="l">
                        <a:lnSpc>
                          <a:spcPct val="115000"/>
                        </a:lnSpc>
                        <a:spcBef>
                          <a:spcPts val="0"/>
                        </a:spcBef>
                        <a:spcAft>
                          <a:spcPts val="0"/>
                        </a:spcAft>
                        <a:buNone/>
                      </a:pPr>
                      <a:r>
                        <a:rPr lang="en" sz="1000"/>
                        <a:t>public_live_Call</a:t>
                      </a:r>
                      <a:endParaRPr sz="1000"/>
                    </a:p>
                  </a:txBody>
                  <a:tcPr marT="91425" marB="91425" marR="28575" marL="28575" anchor="b">
                    <a:lnL cap="flat" cmpd="sng" w="9525">
                      <a:solidFill>
                        <a:srgbClr val="CCCCCC"/>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F2F5F7"/>
                    </a:solidFill>
                  </a:tcPr>
                </a:tc>
                <a:tc>
                  <a:txBody>
                    <a:bodyPr/>
                    <a:lstStyle/>
                    <a:p>
                      <a:pPr indent="0" lvl="0" marL="0" rtl="0" algn="r">
                        <a:lnSpc>
                          <a:spcPct val="115000"/>
                        </a:lnSpc>
                        <a:spcBef>
                          <a:spcPts val="0"/>
                        </a:spcBef>
                        <a:spcAft>
                          <a:spcPts val="0"/>
                        </a:spcAft>
                        <a:buNone/>
                      </a:pPr>
                      <a:r>
                        <a:rPr lang="en" sz="1000"/>
                        <a:t>50.60</a:t>
                      </a:r>
                      <a:endParaRPr sz="1000"/>
                    </a:p>
                  </a:txBody>
                  <a:tcPr marT="91425" marB="91425" marR="28575" marL="28575" anchor="b">
                    <a:lnL cap="flat" cmpd="sng" w="9525">
                      <a:solidFill>
                        <a:srgbClr val="FFFFFF"/>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FFFF"/>
                    </a:solidFill>
                  </a:tcPr>
                </a:tc>
              </a:tr>
              <a:tr h="316575">
                <a:tc>
                  <a:txBody>
                    <a:bodyPr/>
                    <a:lstStyle/>
                    <a:p>
                      <a:pPr indent="0" lvl="0" marL="0" rtl="0" algn="l">
                        <a:lnSpc>
                          <a:spcPct val="115000"/>
                        </a:lnSpc>
                        <a:spcBef>
                          <a:spcPts val="0"/>
                        </a:spcBef>
                        <a:spcAft>
                          <a:spcPts val="0"/>
                        </a:spcAft>
                        <a:buNone/>
                      </a:pPr>
                      <a:r>
                        <a:rPr b="1" lang="en" sz="1000"/>
                        <a:t>Grand Total</a:t>
                      </a:r>
                      <a:endParaRPr b="1" sz="1000"/>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0E8"/>
                    </a:solidFill>
                  </a:tcPr>
                </a:tc>
                <a:tc>
                  <a:txBody>
                    <a:bodyPr/>
                    <a:lstStyle/>
                    <a:p>
                      <a:pPr indent="0" lvl="0" marL="0" rtl="0" algn="r">
                        <a:lnSpc>
                          <a:spcPct val="115000"/>
                        </a:lnSpc>
                        <a:spcBef>
                          <a:spcPts val="0"/>
                        </a:spcBef>
                        <a:spcAft>
                          <a:spcPts val="0"/>
                        </a:spcAft>
                        <a:buNone/>
                      </a:pPr>
                      <a:r>
                        <a:rPr b="1" lang="en" sz="1000"/>
                        <a:t>213987.32</a:t>
                      </a:r>
                      <a:endParaRPr b="1" sz="1000"/>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D9E0E8"/>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5"/>
          <p:cNvSpPr txBox="1"/>
          <p:nvPr>
            <p:ph idx="1" type="body"/>
          </p:nvPr>
        </p:nvSpPr>
        <p:spPr>
          <a:xfrm>
            <a:off x="311700" y="881325"/>
            <a:ext cx="4429500" cy="3838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1"/>
              </a:buClr>
              <a:buSzPts val="1100"/>
              <a:buFont typeface="Arial"/>
              <a:buNone/>
            </a:pPr>
            <a:r>
              <a:rPr lang="en" sz="1600"/>
              <a:t>Chat needs to be optimized because it takes time to type our queries and every second is money, so maybe that is why people are choosing call over chat for a paid consultation.</a:t>
            </a:r>
            <a:endParaRPr sz="1600"/>
          </a:p>
          <a:p>
            <a:pPr indent="0" lvl="0" marL="0" rtl="0" algn="l">
              <a:lnSpc>
                <a:spcPct val="150000"/>
              </a:lnSpc>
              <a:spcBef>
                <a:spcPts val="1200"/>
              </a:spcBef>
              <a:spcAft>
                <a:spcPts val="1200"/>
              </a:spcAft>
              <a:buClr>
                <a:schemeClr val="dk1"/>
              </a:buClr>
              <a:buSzPts val="1100"/>
              <a:buFont typeface="Arial"/>
              <a:buNone/>
            </a:pPr>
            <a:r>
              <a:rPr b="1" lang="en" sz="1600">
                <a:solidFill>
                  <a:srgbClr val="E69138"/>
                </a:solidFill>
              </a:rPr>
              <a:t>Conclusion:</a:t>
            </a:r>
            <a:r>
              <a:rPr lang="en" sz="1600">
                <a:solidFill>
                  <a:srgbClr val="E69138"/>
                </a:solidFill>
              </a:rPr>
              <a:t> </a:t>
            </a:r>
            <a:r>
              <a:rPr lang="en" sz="1600">
                <a:solidFill>
                  <a:srgbClr val="434343"/>
                </a:solidFill>
              </a:rPr>
              <a:t>The chat monetization system should be different, may be include “charge per words count” of the session, especially for AI gurus it works well.</a:t>
            </a:r>
            <a:endParaRPr sz="1600"/>
          </a:p>
        </p:txBody>
      </p:sp>
      <p:sp>
        <p:nvSpPr>
          <p:cNvPr id="203" name="Google Shape;203;p35"/>
          <p:cNvSpPr txBox="1"/>
          <p:nvPr>
            <p:ph type="title"/>
          </p:nvPr>
        </p:nvSpPr>
        <p:spPr>
          <a:xfrm>
            <a:off x="333925" y="264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69138"/>
                </a:solidFill>
              </a:rPr>
              <a:t>Revenue (continued) :</a:t>
            </a:r>
            <a:endParaRPr b="1">
              <a:solidFill>
                <a:srgbClr val="E69138"/>
              </a:solidFill>
            </a:endParaRPr>
          </a:p>
        </p:txBody>
      </p:sp>
      <p:pic>
        <p:nvPicPr>
          <p:cNvPr id="204" name="Google Shape;204;p35" title="Chart"/>
          <p:cNvPicPr preferRelativeResize="0"/>
          <p:nvPr/>
        </p:nvPicPr>
        <p:blipFill>
          <a:blip r:embed="rId3">
            <a:alphaModFix/>
          </a:blip>
          <a:stretch>
            <a:fillRect/>
          </a:stretch>
        </p:blipFill>
        <p:spPr>
          <a:xfrm>
            <a:off x="4958350" y="837175"/>
            <a:ext cx="3866625" cy="3532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311700" y="2063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u="sng">
                <a:solidFill>
                  <a:srgbClr val="E69138"/>
                </a:solidFill>
              </a:rPr>
              <a:t>DASHBOARD &amp; IT’S METRICS</a:t>
            </a:r>
            <a:endParaRPr b="1" u="sng">
              <a:solidFill>
                <a:srgbClr val="E69138"/>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7" title="AstroSage_analysis by A_Raja_Vishwanath.xlsx - Dashboard Submit 2.jpg"/>
          <p:cNvPicPr preferRelativeResize="0"/>
          <p:nvPr/>
        </p:nvPicPr>
        <p:blipFill>
          <a:blip r:embed="rId3">
            <a:alphaModFix/>
          </a:blip>
          <a:stretch>
            <a:fillRect/>
          </a:stretch>
        </p:blipFill>
        <p:spPr>
          <a:xfrm>
            <a:off x="363775" y="53825"/>
            <a:ext cx="8315151" cy="5030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graphicFrame>
        <p:nvGraphicFramePr>
          <p:cNvPr id="219" name="Google Shape;219;p38"/>
          <p:cNvGraphicFramePr/>
          <p:nvPr/>
        </p:nvGraphicFramePr>
        <p:xfrm>
          <a:off x="930738" y="313150"/>
          <a:ext cx="3000000" cy="3000000"/>
        </p:xfrm>
        <a:graphic>
          <a:graphicData uri="http://schemas.openxmlformats.org/drawingml/2006/table">
            <a:tbl>
              <a:tblPr>
                <a:noFill/>
                <a:tableStyleId>{64EB09BC-1F69-498C-B192-AAF41872FB54}</a:tableStyleId>
              </a:tblPr>
              <a:tblGrid>
                <a:gridCol w="1670600"/>
                <a:gridCol w="1937475"/>
                <a:gridCol w="3794225"/>
              </a:tblGrid>
              <a:tr h="335975">
                <a:tc gridSpan="3">
                  <a:txBody>
                    <a:bodyPr/>
                    <a:lstStyle/>
                    <a:p>
                      <a:pPr indent="0" lvl="0" marL="0" rtl="0" algn="ctr">
                        <a:lnSpc>
                          <a:spcPct val="115000"/>
                        </a:lnSpc>
                        <a:spcBef>
                          <a:spcPts val="0"/>
                        </a:spcBef>
                        <a:spcAft>
                          <a:spcPts val="0"/>
                        </a:spcAft>
                        <a:buNone/>
                      </a:pPr>
                      <a:r>
                        <a:rPr b="1" lang="en" sz="1100"/>
                        <a:t>1. Key Performance Indicators</a:t>
                      </a:r>
                      <a:endParaRPr b="1" sz="1100"/>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r h="335975">
                <a:tc>
                  <a:txBody>
                    <a:bodyPr/>
                    <a:lstStyle/>
                    <a:p>
                      <a:pPr indent="0" lvl="0" marL="0" rtl="0" algn="ctr">
                        <a:lnSpc>
                          <a:spcPct val="115000"/>
                        </a:lnSpc>
                        <a:spcBef>
                          <a:spcPts val="0"/>
                        </a:spcBef>
                        <a:spcAft>
                          <a:spcPts val="0"/>
                        </a:spcAft>
                        <a:buNone/>
                      </a:pPr>
                      <a:r>
                        <a:rPr b="1" lang="en" sz="1100"/>
                        <a:t>Metric</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Description</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Decision Insight</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0875">
                <a:tc>
                  <a:txBody>
                    <a:bodyPr/>
                    <a:lstStyle/>
                    <a:p>
                      <a:pPr indent="0" lvl="0" marL="0" rtl="0" algn="ctr">
                        <a:lnSpc>
                          <a:spcPct val="115000"/>
                        </a:lnSpc>
                        <a:spcBef>
                          <a:spcPts val="0"/>
                        </a:spcBef>
                        <a:spcAft>
                          <a:spcPts val="0"/>
                        </a:spcAft>
                        <a:buNone/>
                      </a:pPr>
                      <a:r>
                        <a:rPr lang="en" sz="1200"/>
                        <a:t>No. of Sessions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Total customer interactions (calls + chats)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Indicates overall workload and engagement volume.</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0875">
                <a:tc>
                  <a:txBody>
                    <a:bodyPr/>
                    <a:lstStyle/>
                    <a:p>
                      <a:pPr indent="0" lvl="0" marL="0" rtl="0" algn="ctr">
                        <a:lnSpc>
                          <a:spcPct val="115000"/>
                        </a:lnSpc>
                        <a:spcBef>
                          <a:spcPts val="0"/>
                        </a:spcBef>
                        <a:spcAft>
                          <a:spcPts val="0"/>
                        </a:spcAft>
                        <a:buNone/>
                      </a:pPr>
                      <a:r>
                        <a:rPr lang="en" sz="1200"/>
                        <a:t>No. of Users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Total unique customers who interacted</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Measures user base size and retention growth.</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90875">
                <a:tc>
                  <a:txBody>
                    <a:bodyPr/>
                    <a:lstStyle/>
                    <a:p>
                      <a:pPr indent="0" lvl="0" marL="0" rtl="0" algn="ctr">
                        <a:lnSpc>
                          <a:spcPct val="115000"/>
                        </a:lnSpc>
                        <a:spcBef>
                          <a:spcPts val="0"/>
                        </a:spcBef>
                        <a:spcAft>
                          <a:spcPts val="0"/>
                        </a:spcAft>
                        <a:buNone/>
                      </a:pPr>
                      <a:r>
                        <a:rPr lang="en" sz="1200"/>
                        <a:t>No. of Gurus (Astrologers)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Total astrologers handling consultations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Reflects manpower availability and coverage.</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1675">
                <a:tc>
                  <a:txBody>
                    <a:bodyPr/>
                    <a:lstStyle/>
                    <a:p>
                      <a:pPr indent="0" lvl="0" marL="0" rtl="0" algn="ctr">
                        <a:lnSpc>
                          <a:spcPct val="115000"/>
                        </a:lnSpc>
                        <a:spcBef>
                          <a:spcPts val="0"/>
                        </a:spcBef>
                        <a:spcAft>
                          <a:spcPts val="0"/>
                        </a:spcAft>
                        <a:buNone/>
                      </a:pPr>
                      <a:r>
                        <a:rPr lang="en" sz="1200"/>
                        <a:t>Revenue Generated</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Total revenue from consultations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Shows business performance and income generation.</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1675">
                <a:tc>
                  <a:txBody>
                    <a:bodyPr/>
                    <a:lstStyle/>
                    <a:p>
                      <a:pPr indent="0" lvl="0" marL="0" rtl="0" algn="ctr">
                        <a:lnSpc>
                          <a:spcPct val="115000"/>
                        </a:lnSpc>
                        <a:spcBef>
                          <a:spcPts val="0"/>
                        </a:spcBef>
                        <a:spcAft>
                          <a:spcPts val="0"/>
                        </a:spcAft>
                        <a:buNone/>
                      </a:pPr>
                      <a:r>
                        <a:rPr lang="en" sz="1200"/>
                        <a:t>Astrologer Earnings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Total payout to astrologers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Helps assess profitability and partner compensation fairness.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1675">
                <a:tc>
                  <a:txBody>
                    <a:bodyPr/>
                    <a:lstStyle/>
                    <a:p>
                      <a:pPr indent="0" lvl="0" marL="0" rtl="0" algn="ctr">
                        <a:lnSpc>
                          <a:spcPct val="115000"/>
                        </a:lnSpc>
                        <a:spcBef>
                          <a:spcPts val="0"/>
                        </a:spcBef>
                        <a:spcAft>
                          <a:spcPts val="0"/>
                        </a:spcAft>
                        <a:buNone/>
                      </a:pPr>
                      <a:r>
                        <a:rPr lang="en" sz="1200"/>
                        <a:t>Profit (%)</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Revenue minus payouts and costs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Indicates business sustainability and margin strength.</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graphicFrame>
        <p:nvGraphicFramePr>
          <p:cNvPr id="224" name="Google Shape;224;p39"/>
          <p:cNvGraphicFramePr/>
          <p:nvPr/>
        </p:nvGraphicFramePr>
        <p:xfrm>
          <a:off x="699375" y="497975"/>
          <a:ext cx="3000000" cy="3000000"/>
        </p:xfrm>
        <a:graphic>
          <a:graphicData uri="http://schemas.openxmlformats.org/drawingml/2006/table">
            <a:tbl>
              <a:tblPr>
                <a:noFill/>
                <a:tableStyleId>{64EB09BC-1F69-498C-B192-AAF41872FB54}</a:tableStyleId>
              </a:tblPr>
              <a:tblGrid>
                <a:gridCol w="1728800"/>
                <a:gridCol w="1996225"/>
                <a:gridCol w="3935125"/>
              </a:tblGrid>
              <a:tr h="306650">
                <a:tc gridSpan="3">
                  <a:txBody>
                    <a:bodyPr/>
                    <a:lstStyle/>
                    <a:p>
                      <a:pPr indent="0" lvl="0" marL="0" rtl="0" algn="ctr">
                        <a:lnSpc>
                          <a:spcPct val="115000"/>
                        </a:lnSpc>
                        <a:spcBef>
                          <a:spcPts val="0"/>
                        </a:spcBef>
                        <a:spcAft>
                          <a:spcPts val="0"/>
                        </a:spcAft>
                        <a:buNone/>
                      </a:pPr>
                      <a:r>
                        <a:rPr b="1" lang="en" sz="1100"/>
                        <a:t>2. Interaction and Volume Metrics</a:t>
                      </a:r>
                      <a:endParaRPr b="1" sz="1100"/>
                    </a:p>
                  </a:txBody>
                  <a:tcPr marT="91425" marB="91425"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000000"/>
                      </a:solidFill>
                      <a:prstDash val="solid"/>
                      <a:round/>
                      <a:headEnd len="sm" w="sm" type="none"/>
                      <a:tailEnd len="sm" w="sm" type="none"/>
                    </a:lnB>
                  </a:tcPr>
                </a:tc>
                <a:tc hMerge="1"/>
                <a:tc hMerge="1"/>
              </a:tr>
              <a:tr h="306650">
                <a:tc>
                  <a:txBody>
                    <a:bodyPr/>
                    <a:lstStyle/>
                    <a:p>
                      <a:pPr indent="0" lvl="0" marL="0" rtl="0" algn="ctr">
                        <a:lnSpc>
                          <a:spcPct val="115000"/>
                        </a:lnSpc>
                        <a:spcBef>
                          <a:spcPts val="0"/>
                        </a:spcBef>
                        <a:spcAft>
                          <a:spcPts val="0"/>
                        </a:spcAft>
                        <a:buNone/>
                      </a:pPr>
                      <a:r>
                        <a:rPr b="1" lang="en" sz="1100"/>
                        <a:t>Metric</a:t>
                      </a:r>
                      <a:endParaRPr b="1" sz="1100"/>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Chart Type</a:t>
                      </a:r>
                      <a:endParaRPr b="1" sz="1100"/>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57000">
                <a:tc>
                  <a:txBody>
                    <a:bodyPr/>
                    <a:lstStyle/>
                    <a:p>
                      <a:pPr indent="0" lvl="0" marL="0" rtl="0" algn="ctr">
                        <a:lnSpc>
                          <a:spcPct val="115000"/>
                        </a:lnSpc>
                        <a:spcBef>
                          <a:spcPts val="0"/>
                        </a:spcBef>
                        <a:spcAft>
                          <a:spcPts val="0"/>
                        </a:spcAft>
                        <a:buNone/>
                      </a:pPr>
                      <a:r>
                        <a:rPr lang="en"/>
                        <a:t>Daily Volume of Interactions</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Line Chart</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Identifies peak and low activity days; useful for resource planning.</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57000">
                <a:tc>
                  <a:txBody>
                    <a:bodyPr/>
                    <a:lstStyle/>
                    <a:p>
                      <a:pPr indent="0" lvl="0" marL="0" rtl="0" algn="ctr">
                        <a:lnSpc>
                          <a:spcPct val="115000"/>
                        </a:lnSpc>
                        <a:spcBef>
                          <a:spcPts val="0"/>
                        </a:spcBef>
                        <a:spcAft>
                          <a:spcPts val="0"/>
                        </a:spcAft>
                        <a:buNone/>
                      </a:pPr>
                      <a:r>
                        <a:rPr lang="en"/>
                        <a:t>Top 10 gurus by session Volume</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Bar Chart</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Highlights top-performing astrologers and workload imbalance.</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57000">
                <a:tc>
                  <a:txBody>
                    <a:bodyPr/>
                    <a:lstStyle/>
                    <a:p>
                      <a:pPr indent="0" lvl="0" marL="0" rtl="0" algn="ctr">
                        <a:lnSpc>
                          <a:spcPct val="115000"/>
                        </a:lnSpc>
                        <a:spcBef>
                          <a:spcPts val="0"/>
                        </a:spcBef>
                        <a:spcAft>
                          <a:spcPts val="0"/>
                        </a:spcAft>
                        <a:buNone/>
                      </a:pPr>
                      <a:r>
                        <a:rPr lang="en"/>
                        <a:t>Volume by Hour of the Day</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Column Chart</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Shows busiest hours — helps optimize shift scheduling and staffing.</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60400">
                <a:tc>
                  <a:txBody>
                    <a:bodyPr/>
                    <a:lstStyle/>
                    <a:p>
                      <a:pPr indent="0" lvl="0" marL="0" rtl="0" algn="ctr">
                        <a:lnSpc>
                          <a:spcPct val="115000"/>
                        </a:lnSpc>
                        <a:spcBef>
                          <a:spcPts val="0"/>
                        </a:spcBef>
                        <a:spcAft>
                          <a:spcPts val="0"/>
                        </a:spcAft>
                        <a:buNone/>
                      </a:pPr>
                      <a:r>
                        <a:rPr lang="en"/>
                        <a:t>Platform(website)</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Pie Chart</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t>Shows platform choice of users-helps decide which platform needs more investment/ development</a:t>
                      </a:r>
                      <a:endParaRPr/>
                    </a:p>
                  </a:txBody>
                  <a:tcPr marT="91425" marB="91425"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graphicFrame>
        <p:nvGraphicFramePr>
          <p:cNvPr id="229" name="Google Shape;229;p40"/>
          <p:cNvGraphicFramePr/>
          <p:nvPr/>
        </p:nvGraphicFramePr>
        <p:xfrm>
          <a:off x="605925" y="228175"/>
          <a:ext cx="3000000" cy="3000000"/>
        </p:xfrm>
        <a:graphic>
          <a:graphicData uri="http://schemas.openxmlformats.org/drawingml/2006/table">
            <a:tbl>
              <a:tblPr>
                <a:noFill/>
                <a:tableStyleId>{64EB09BC-1F69-498C-B192-AAF41872FB54}</a:tableStyleId>
              </a:tblPr>
              <a:tblGrid>
                <a:gridCol w="2091700"/>
                <a:gridCol w="1839875"/>
                <a:gridCol w="4153350"/>
              </a:tblGrid>
              <a:tr h="190500">
                <a:tc gridSpan="3">
                  <a:txBody>
                    <a:bodyPr/>
                    <a:lstStyle/>
                    <a:p>
                      <a:pPr indent="0" lvl="0" marL="0" rtl="0" algn="ctr">
                        <a:lnSpc>
                          <a:spcPct val="115000"/>
                        </a:lnSpc>
                        <a:spcBef>
                          <a:spcPts val="0"/>
                        </a:spcBef>
                        <a:spcAft>
                          <a:spcPts val="0"/>
                        </a:spcAft>
                        <a:buNone/>
                      </a:pPr>
                      <a:r>
                        <a:rPr b="1" lang="en" sz="1100"/>
                        <a:t>3. Quality and Satisfaction Metrics</a:t>
                      </a:r>
                      <a:endParaRPr b="1" sz="1100"/>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r h="190500">
                <a:tc>
                  <a:txBody>
                    <a:bodyPr/>
                    <a:lstStyle/>
                    <a:p>
                      <a:pPr indent="0" lvl="0" marL="0" rtl="0" algn="ctr">
                        <a:lnSpc>
                          <a:spcPct val="115000"/>
                        </a:lnSpc>
                        <a:spcBef>
                          <a:spcPts val="0"/>
                        </a:spcBef>
                        <a:spcAft>
                          <a:spcPts val="0"/>
                        </a:spcAft>
                        <a:buNone/>
                      </a:pPr>
                      <a:r>
                        <a:rPr b="1" lang="en" sz="1100"/>
                        <a:t>Metric</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Chart Type</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425">
                <a:tc>
                  <a:txBody>
                    <a:bodyPr/>
                    <a:lstStyle/>
                    <a:p>
                      <a:pPr indent="0" lvl="0" marL="0" rtl="0" algn="ctr">
                        <a:lnSpc>
                          <a:spcPct val="115000"/>
                        </a:lnSpc>
                        <a:spcBef>
                          <a:spcPts val="0"/>
                        </a:spcBef>
                        <a:spcAft>
                          <a:spcPts val="0"/>
                        </a:spcAft>
                        <a:buNone/>
                      </a:pPr>
                      <a:r>
                        <a:rPr lang="en" sz="1200"/>
                        <a:t>Rating Distribution Over Sessions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Bar Chart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Monitors service quality and user satisfaction trends.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425">
                <a:tc>
                  <a:txBody>
                    <a:bodyPr/>
                    <a:lstStyle/>
                    <a:p>
                      <a:pPr indent="0" lvl="0" marL="0" rtl="0" algn="ctr">
                        <a:lnSpc>
                          <a:spcPct val="115000"/>
                        </a:lnSpc>
                        <a:spcBef>
                          <a:spcPts val="0"/>
                        </a:spcBef>
                        <a:spcAft>
                          <a:spcPts val="0"/>
                        </a:spcAft>
                        <a:buNone/>
                      </a:pPr>
                      <a:r>
                        <a:rPr lang="en" sz="1200"/>
                        <a:t>Satisfaction of Users (Poor/Average/Excellent)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Pie Chart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Provides overall satisfaction overview — vital for service improvement.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30" name="Google Shape;230;p40"/>
          <p:cNvGraphicFramePr/>
          <p:nvPr/>
        </p:nvGraphicFramePr>
        <p:xfrm>
          <a:off x="575913" y="2409675"/>
          <a:ext cx="3000000" cy="3000000"/>
        </p:xfrm>
        <a:graphic>
          <a:graphicData uri="http://schemas.openxmlformats.org/drawingml/2006/table">
            <a:tbl>
              <a:tblPr>
                <a:noFill/>
                <a:tableStyleId>{64EB09BC-1F69-498C-B192-AAF41872FB54}</a:tableStyleId>
              </a:tblPr>
              <a:tblGrid>
                <a:gridCol w="2524925"/>
                <a:gridCol w="1471200"/>
                <a:gridCol w="4221550"/>
              </a:tblGrid>
              <a:tr h="190500">
                <a:tc gridSpan="3">
                  <a:txBody>
                    <a:bodyPr/>
                    <a:lstStyle/>
                    <a:p>
                      <a:pPr indent="0" lvl="0" marL="0" rtl="0" algn="ctr">
                        <a:lnSpc>
                          <a:spcPct val="115000"/>
                        </a:lnSpc>
                        <a:spcBef>
                          <a:spcPts val="0"/>
                        </a:spcBef>
                        <a:spcAft>
                          <a:spcPts val="0"/>
                        </a:spcAft>
                        <a:buNone/>
                      </a:pPr>
                      <a:r>
                        <a:rPr b="1" lang="en" sz="1100"/>
                        <a:t>4. Operational Efficiency Metrics</a:t>
                      </a:r>
                      <a:endParaRPr b="1" sz="1100"/>
                    </a:p>
                  </a:txBody>
                  <a:tcPr marT="91425" marB="91425"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r h="190500">
                <a:tc>
                  <a:txBody>
                    <a:bodyPr/>
                    <a:lstStyle/>
                    <a:p>
                      <a:pPr indent="0" lvl="0" marL="0" rtl="0" algn="ctr">
                        <a:lnSpc>
                          <a:spcPct val="115000"/>
                        </a:lnSpc>
                        <a:spcBef>
                          <a:spcPts val="0"/>
                        </a:spcBef>
                        <a:spcAft>
                          <a:spcPts val="0"/>
                        </a:spcAft>
                        <a:buNone/>
                      </a:pPr>
                      <a:r>
                        <a:rPr b="1" lang="en" sz="1100"/>
                        <a:t>Metric</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Chart Type</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3875">
                <a:tc>
                  <a:txBody>
                    <a:bodyPr/>
                    <a:lstStyle/>
                    <a:p>
                      <a:pPr indent="0" lvl="0" marL="0" rtl="0" algn="ctr">
                        <a:lnSpc>
                          <a:spcPct val="115000"/>
                        </a:lnSpc>
                        <a:spcBef>
                          <a:spcPts val="0"/>
                        </a:spcBef>
                        <a:spcAft>
                          <a:spcPts val="0"/>
                        </a:spcAft>
                        <a:buNone/>
                      </a:pPr>
                      <a:r>
                        <a:rPr lang="en" sz="1200"/>
                        <a:t>Chat Status Distribution </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Pie Chart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Tracks chat success rate and identifies technical or behavioral issues.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3875">
                <a:tc>
                  <a:txBody>
                    <a:bodyPr/>
                    <a:lstStyle/>
                    <a:p>
                      <a:pPr indent="0" lvl="0" marL="0" rtl="0" algn="ctr">
                        <a:lnSpc>
                          <a:spcPct val="115000"/>
                        </a:lnSpc>
                        <a:spcBef>
                          <a:spcPts val="0"/>
                        </a:spcBef>
                        <a:spcAft>
                          <a:spcPts val="0"/>
                        </a:spcAft>
                        <a:buNone/>
                      </a:pPr>
                      <a:r>
                        <a:rPr lang="en" sz="1200"/>
                        <a:t>Call Status Distribution </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Pie Chart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Evaluates call handling efficiency and technical connectivity.</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425">
                <a:tc>
                  <a:txBody>
                    <a:bodyPr/>
                    <a:lstStyle/>
                    <a:p>
                      <a:pPr indent="0" lvl="0" marL="0" rtl="0" algn="ctr">
                        <a:lnSpc>
                          <a:spcPct val="115000"/>
                        </a:lnSpc>
                        <a:spcBef>
                          <a:spcPts val="0"/>
                        </a:spcBef>
                        <a:spcAft>
                          <a:spcPts val="0"/>
                        </a:spcAft>
                        <a:buNone/>
                      </a:pPr>
                      <a:r>
                        <a:rPr lang="en" sz="1200"/>
                        <a:t>Revenue vs. Consultation Type (Call vs. Chat)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Pie </a:t>
                      </a:r>
                      <a:r>
                        <a:rPr lang="en" sz="1200"/>
                        <a:t>Chart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Helps assess which mode drives higher revenue, guiding platform investment.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aphicFrame>
        <p:nvGraphicFramePr>
          <p:cNvPr id="235" name="Google Shape;235;p41"/>
          <p:cNvGraphicFramePr/>
          <p:nvPr/>
        </p:nvGraphicFramePr>
        <p:xfrm>
          <a:off x="911625" y="686850"/>
          <a:ext cx="3000000" cy="3000000"/>
        </p:xfrm>
        <a:graphic>
          <a:graphicData uri="http://schemas.openxmlformats.org/drawingml/2006/table">
            <a:tbl>
              <a:tblPr>
                <a:noFill/>
                <a:tableStyleId>{64EB09BC-1F69-498C-B192-AAF41872FB54}</a:tableStyleId>
              </a:tblPr>
              <a:tblGrid>
                <a:gridCol w="1724025"/>
                <a:gridCol w="1990725"/>
                <a:gridCol w="3924300"/>
              </a:tblGrid>
              <a:tr h="190500">
                <a:tc gridSpan="3">
                  <a:txBody>
                    <a:bodyPr/>
                    <a:lstStyle/>
                    <a:p>
                      <a:pPr indent="0" lvl="0" marL="0" rtl="0" algn="ctr">
                        <a:lnSpc>
                          <a:spcPct val="115000"/>
                        </a:lnSpc>
                        <a:spcBef>
                          <a:spcPts val="0"/>
                        </a:spcBef>
                        <a:spcAft>
                          <a:spcPts val="0"/>
                        </a:spcAft>
                        <a:buNone/>
                      </a:pPr>
                      <a:r>
                        <a:rPr b="1" lang="en" sz="1100"/>
                        <a:t>5. User Behavior Metrics</a:t>
                      </a:r>
                      <a:endParaRPr b="1" sz="1100"/>
                    </a:p>
                  </a:txBody>
                  <a:tcPr marT="91425" marB="91425"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r h="190500">
                <a:tc>
                  <a:txBody>
                    <a:bodyPr/>
                    <a:lstStyle/>
                    <a:p>
                      <a:pPr indent="0" lvl="0" marL="0" rtl="0" algn="ctr">
                        <a:lnSpc>
                          <a:spcPct val="115000"/>
                        </a:lnSpc>
                        <a:spcBef>
                          <a:spcPts val="0"/>
                        </a:spcBef>
                        <a:spcAft>
                          <a:spcPts val="0"/>
                        </a:spcAft>
                        <a:buNone/>
                      </a:pPr>
                      <a:r>
                        <a:rPr b="1" lang="en" sz="1100"/>
                        <a:t>Metric</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Chart Type</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425">
                <a:tc>
                  <a:txBody>
                    <a:bodyPr/>
                    <a:lstStyle/>
                    <a:p>
                      <a:pPr indent="0" lvl="0" marL="0" rtl="0" algn="ctr">
                        <a:lnSpc>
                          <a:spcPct val="115000"/>
                        </a:lnSpc>
                        <a:spcBef>
                          <a:spcPts val="0"/>
                        </a:spcBef>
                        <a:spcAft>
                          <a:spcPts val="0"/>
                        </a:spcAft>
                        <a:buNone/>
                      </a:pPr>
                      <a:r>
                        <a:rPr lang="en" sz="1200"/>
                        <a:t>User Type &amp; Count of Sessions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Bar</a:t>
                      </a:r>
                      <a:r>
                        <a:rPr lang="en" sz="1200"/>
                        <a:t> Chart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Indicates customer retention — crucial for marketing and loyalty investment.</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2425">
                <a:tc>
                  <a:txBody>
                    <a:bodyPr/>
                    <a:lstStyle/>
                    <a:p>
                      <a:pPr indent="0" lvl="0" marL="0" rtl="0" algn="ctr">
                        <a:lnSpc>
                          <a:spcPct val="115000"/>
                        </a:lnSpc>
                        <a:spcBef>
                          <a:spcPts val="0"/>
                        </a:spcBef>
                        <a:spcAft>
                          <a:spcPts val="0"/>
                        </a:spcAft>
                        <a:buNone/>
                      </a:pPr>
                      <a:r>
                        <a:rPr lang="en" sz="1200"/>
                        <a:t>User Frequency / Platform / Weekday Filters (via Slicers)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Filter Controls</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t>Allow dynamic segmentation for deeper analysis (e.g., platform-wise revenue).</a:t>
                      </a:r>
                      <a:endParaRPr sz="1200"/>
                    </a:p>
                  </a:txBody>
                  <a:tcPr marT="91425" marB="91425"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221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69138"/>
                </a:solidFill>
              </a:rPr>
              <a:t>Conclusion:</a:t>
            </a:r>
            <a:endParaRPr b="1">
              <a:solidFill>
                <a:srgbClr val="E69138"/>
              </a:solidFill>
            </a:endParaRPr>
          </a:p>
        </p:txBody>
      </p:sp>
      <p:sp>
        <p:nvSpPr>
          <p:cNvPr id="241" name="Google Shape;241;p42"/>
          <p:cNvSpPr txBox="1"/>
          <p:nvPr>
            <p:ph idx="1" type="body"/>
          </p:nvPr>
        </p:nvSpPr>
        <p:spPr>
          <a:xfrm>
            <a:off x="346500" y="980800"/>
            <a:ext cx="8590200" cy="34164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No need for new astrologer hires unless expanding to other countries. Maintain existing gurus for they are free word of mouth publicity agents. May not pay monthly salary but a </a:t>
            </a:r>
            <a:r>
              <a:rPr lang="en" sz="1600"/>
              <a:t>commission</a:t>
            </a:r>
            <a:r>
              <a:rPr lang="en" sz="1600"/>
              <a:t> per interaction.</a:t>
            </a:r>
            <a:endParaRPr sz="1600"/>
          </a:p>
          <a:p>
            <a:pPr indent="-330200" lvl="0" marL="457200" rtl="0" algn="l">
              <a:lnSpc>
                <a:spcPct val="150000"/>
              </a:lnSpc>
              <a:spcBef>
                <a:spcPts val="0"/>
              </a:spcBef>
              <a:spcAft>
                <a:spcPts val="0"/>
              </a:spcAft>
              <a:buSzPts val="1600"/>
              <a:buChar char="●"/>
            </a:pPr>
            <a:r>
              <a:rPr lang="en" sz="1600"/>
              <a:t>Training for existing gurus needed. User focused material  of how to get most out of an interaction would help rectify data handling mistakes from user end.</a:t>
            </a:r>
            <a:endParaRPr sz="1600"/>
          </a:p>
          <a:p>
            <a:pPr indent="-330200" lvl="0" marL="457200" rtl="0" algn="l">
              <a:lnSpc>
                <a:spcPct val="150000"/>
              </a:lnSpc>
              <a:spcBef>
                <a:spcPts val="0"/>
              </a:spcBef>
              <a:spcAft>
                <a:spcPts val="0"/>
              </a:spcAft>
              <a:buSzPts val="1600"/>
              <a:buChar char="●"/>
            </a:pPr>
            <a:r>
              <a:rPr lang="en" sz="1600"/>
              <a:t>Invest in AI, to take up generic queries &amp; reduce load on gurus, particularly in peak hours. </a:t>
            </a:r>
            <a:endParaRPr sz="1600"/>
          </a:p>
          <a:p>
            <a:pPr indent="-330200" lvl="0" marL="457200" rtl="0" algn="l">
              <a:lnSpc>
                <a:spcPct val="150000"/>
              </a:lnSpc>
              <a:spcBef>
                <a:spcPts val="0"/>
              </a:spcBef>
              <a:spcAft>
                <a:spcPts val="0"/>
              </a:spcAft>
              <a:buSzPts val="1600"/>
              <a:buChar char="●"/>
            </a:pPr>
            <a:r>
              <a:rPr lang="en" sz="1600"/>
              <a:t>Technology upgrade is necessary to resolve failed/</a:t>
            </a:r>
            <a:r>
              <a:rPr lang="en" sz="1600"/>
              <a:t>incomplete</a:t>
            </a:r>
            <a:r>
              <a:rPr lang="en" sz="1600"/>
              <a:t> and other </a:t>
            </a:r>
            <a:r>
              <a:rPr lang="en" sz="1600"/>
              <a:t>statuses. AI comes into picture.</a:t>
            </a:r>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type="title"/>
          </p:nvPr>
        </p:nvSpPr>
        <p:spPr>
          <a:xfrm>
            <a:off x="311700" y="204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69138"/>
                </a:solidFill>
              </a:rPr>
              <a:t>Solution to the goal:</a:t>
            </a:r>
            <a:endParaRPr b="1">
              <a:solidFill>
                <a:srgbClr val="E69138"/>
              </a:solidFill>
            </a:endParaRPr>
          </a:p>
        </p:txBody>
      </p:sp>
      <p:sp>
        <p:nvSpPr>
          <p:cNvPr id="247" name="Google Shape;247;p43"/>
          <p:cNvSpPr txBox="1"/>
          <p:nvPr>
            <p:ph idx="1" type="body"/>
          </p:nvPr>
        </p:nvSpPr>
        <p:spPr>
          <a:xfrm>
            <a:off x="311700" y="890175"/>
            <a:ext cx="8520600" cy="3678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lang="en" u="sng"/>
              <a:t>Training and Quality Improvement — ₹25 Lakhs (25%):</a:t>
            </a:r>
            <a:r>
              <a:rPr lang="en"/>
              <a:t> </a:t>
            </a:r>
            <a:endParaRPr/>
          </a:p>
          <a:p>
            <a:pPr indent="0" lvl="0" marL="457200" rtl="0" algn="l">
              <a:lnSpc>
                <a:spcPct val="150000"/>
              </a:lnSpc>
              <a:spcBef>
                <a:spcPts val="1200"/>
              </a:spcBef>
              <a:spcAft>
                <a:spcPts val="0"/>
              </a:spcAft>
              <a:buNone/>
            </a:pPr>
            <a:r>
              <a:rPr lang="en"/>
              <a:t>Targeted to low rating / under performing gurus. Soft-skill and customer-psychology modules to improve trust and reduce drop-offs.</a:t>
            </a:r>
            <a:endParaRPr/>
          </a:p>
          <a:p>
            <a:pPr indent="-342900" lvl="0" marL="457200" rtl="0" algn="l">
              <a:lnSpc>
                <a:spcPct val="150000"/>
              </a:lnSpc>
              <a:spcBef>
                <a:spcPts val="1200"/>
              </a:spcBef>
              <a:spcAft>
                <a:spcPts val="0"/>
              </a:spcAft>
              <a:buSzPts val="1800"/>
              <a:buAutoNum type="arabicPeriod"/>
            </a:pPr>
            <a:r>
              <a:rPr lang="en" u="sng"/>
              <a:t>Technology and AI Integration — ₹40 Lakhs (40%) :</a:t>
            </a:r>
            <a:r>
              <a:rPr lang="en"/>
              <a:t> </a:t>
            </a:r>
            <a:endParaRPr/>
          </a:p>
          <a:p>
            <a:pPr indent="-342900" lvl="0" marL="457200" rtl="0" algn="l">
              <a:lnSpc>
                <a:spcPct val="150000"/>
              </a:lnSpc>
              <a:spcBef>
                <a:spcPts val="0"/>
              </a:spcBef>
              <a:spcAft>
                <a:spcPts val="0"/>
              </a:spcAft>
              <a:buSzPts val="1800"/>
              <a:buChar char="●"/>
            </a:pPr>
            <a:r>
              <a:rPr lang="en"/>
              <a:t>Upgrade backend call/chat infrastructure to address the current ~14% call failure rate &amp; 37.2% chat failure rate seen in the data.</a:t>
            </a:r>
            <a:endParaRPr/>
          </a:p>
          <a:p>
            <a:pPr indent="-342900" lvl="0" marL="457200" rtl="0" algn="l">
              <a:lnSpc>
                <a:spcPct val="150000"/>
              </a:lnSpc>
              <a:spcBef>
                <a:spcPts val="0"/>
              </a:spcBef>
              <a:spcAft>
                <a:spcPts val="0"/>
              </a:spcAft>
              <a:buSzPts val="1800"/>
              <a:buChar char="●"/>
            </a:pPr>
            <a:r>
              <a:rPr lang="en"/>
              <a:t>Build Chatbots/AI Agents for FAQ’s, Skill &amp; traffic based routing.</a:t>
            </a:r>
            <a:endParaRPr/>
          </a:p>
          <a:p>
            <a:pPr indent="-342900" lvl="0" marL="457200" rtl="0" algn="l">
              <a:lnSpc>
                <a:spcPct val="150000"/>
              </a:lnSpc>
              <a:spcBef>
                <a:spcPts val="0"/>
              </a:spcBef>
              <a:spcAft>
                <a:spcPts val="0"/>
              </a:spcAft>
              <a:buSzPts val="1800"/>
              <a:buChar char="●"/>
            </a:pPr>
            <a:r>
              <a:rPr lang="en"/>
              <a:t>Aim for Sharper response times and lower wait periods, improved completion rates.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4"/>
          <p:cNvSpPr txBox="1"/>
          <p:nvPr>
            <p:ph idx="1" type="body"/>
          </p:nvPr>
        </p:nvSpPr>
        <p:spPr>
          <a:xfrm>
            <a:off x="311700" y="881275"/>
            <a:ext cx="8520600" cy="3687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a:t>
            </a:r>
            <a:r>
              <a:rPr lang="en" u="sng"/>
              <a:t>	</a:t>
            </a:r>
            <a:r>
              <a:rPr lang="en" u="sng"/>
              <a:t>Customer Experience &amp; Self-Service Platforms — ₹15 Lakhs (15%)</a:t>
            </a:r>
            <a:endParaRPr u="sng"/>
          </a:p>
          <a:p>
            <a:pPr indent="-342900" lvl="0" marL="457200" rtl="0" algn="l">
              <a:spcBef>
                <a:spcPts val="1200"/>
              </a:spcBef>
              <a:spcAft>
                <a:spcPts val="0"/>
              </a:spcAft>
              <a:buSzPts val="1800"/>
              <a:buChar char="●"/>
            </a:pPr>
            <a:r>
              <a:rPr lang="en"/>
              <a:t>IVR, WhatsApp bots, website chat widgets. </a:t>
            </a:r>
            <a:endParaRPr/>
          </a:p>
          <a:p>
            <a:pPr indent="-342900" lvl="0" marL="457200" rtl="0" algn="l">
              <a:spcBef>
                <a:spcPts val="0"/>
              </a:spcBef>
              <a:spcAft>
                <a:spcPts val="0"/>
              </a:spcAft>
              <a:buSzPts val="1800"/>
              <a:buChar char="●"/>
            </a:pPr>
            <a:r>
              <a:rPr lang="en"/>
              <a:t>Implement AI-driven recommendations for guru selection</a:t>
            </a:r>
            <a:endParaRPr/>
          </a:p>
          <a:p>
            <a:pPr indent="0" lvl="0" marL="0" rtl="0" algn="l">
              <a:spcBef>
                <a:spcPts val="1200"/>
              </a:spcBef>
              <a:spcAft>
                <a:spcPts val="0"/>
              </a:spcAft>
              <a:buNone/>
            </a:pPr>
            <a:r>
              <a:rPr lang="en"/>
              <a:t>4.	</a:t>
            </a:r>
            <a:r>
              <a:rPr lang="en" u="sng"/>
              <a:t>Marketing, Retention &amp; Engagement — ₹10 Lakhs (10%)</a:t>
            </a:r>
            <a:endParaRPr u="sng"/>
          </a:p>
          <a:p>
            <a:pPr indent="-342900" lvl="0" marL="457200" rtl="0" algn="l">
              <a:spcBef>
                <a:spcPts val="1200"/>
              </a:spcBef>
              <a:spcAft>
                <a:spcPts val="0"/>
              </a:spcAft>
              <a:buSzPts val="1800"/>
              <a:buChar char="●"/>
            </a:pPr>
            <a:r>
              <a:rPr lang="en"/>
              <a:t>Run campaigns promoting high-rated human astrologers, AI astrologers and customer success stories.</a:t>
            </a:r>
            <a:endParaRPr/>
          </a:p>
          <a:p>
            <a:pPr indent="-342900" lvl="0" marL="457200" rtl="0" algn="l">
              <a:spcBef>
                <a:spcPts val="0"/>
              </a:spcBef>
              <a:spcAft>
                <a:spcPts val="0"/>
              </a:spcAft>
              <a:buSzPts val="1800"/>
              <a:buChar char="●"/>
            </a:pPr>
            <a:r>
              <a:rPr lang="en"/>
              <a:t>Introduce loyalty programs and subscription models for repeat users.</a:t>
            </a:r>
            <a:endParaRPr/>
          </a:p>
          <a:p>
            <a:pPr indent="-342900" lvl="0" marL="457200" rtl="0" algn="l">
              <a:spcBef>
                <a:spcPts val="0"/>
              </a:spcBef>
              <a:spcAft>
                <a:spcPts val="0"/>
              </a:spcAft>
              <a:buSzPts val="1800"/>
              <a:buChar char="●"/>
            </a:pPr>
            <a:r>
              <a:rPr lang="en"/>
              <a:t>Use insights from slicers and pivot data to target campaigns by region, consultation type, and user behavior patterns.</a:t>
            </a:r>
            <a:endParaRPr/>
          </a:p>
        </p:txBody>
      </p:sp>
      <p:sp>
        <p:nvSpPr>
          <p:cNvPr id="253" name="Google Shape;253;p44"/>
          <p:cNvSpPr txBox="1"/>
          <p:nvPr>
            <p:ph type="title"/>
          </p:nvPr>
        </p:nvSpPr>
        <p:spPr>
          <a:xfrm>
            <a:off x="311700" y="204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69138"/>
                </a:solidFill>
              </a:rPr>
              <a:t>Solution to the goal ( continued ):</a:t>
            </a:r>
            <a:endParaRPr b="1">
              <a:solidFill>
                <a:srgbClr val="E69138"/>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ph idx="1" type="body"/>
          </p:nvPr>
        </p:nvSpPr>
        <p:spPr>
          <a:xfrm>
            <a:off x="311700" y="890175"/>
            <a:ext cx="8520600" cy="367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5. 	</a:t>
            </a:r>
            <a:r>
              <a:rPr lang="en" u="sng"/>
              <a:t>Data Analytics, Monitoring &amp; Contingency — ₹10 Lakhs (10%)</a:t>
            </a:r>
            <a:endParaRPr u="sng"/>
          </a:p>
          <a:p>
            <a:pPr indent="-342900" lvl="0" marL="457200" rtl="0" algn="l">
              <a:lnSpc>
                <a:spcPct val="150000"/>
              </a:lnSpc>
              <a:spcBef>
                <a:spcPts val="1200"/>
              </a:spcBef>
              <a:spcAft>
                <a:spcPts val="0"/>
              </a:spcAft>
              <a:buSzPts val="1800"/>
              <a:buChar char="●"/>
            </a:pPr>
            <a:r>
              <a:rPr lang="en"/>
              <a:t>Strengthen data collection pipelines for real-time performance monitoring.</a:t>
            </a:r>
            <a:endParaRPr/>
          </a:p>
          <a:p>
            <a:pPr indent="-342900" lvl="0" marL="457200" rtl="0" algn="l">
              <a:lnSpc>
                <a:spcPct val="150000"/>
              </a:lnSpc>
              <a:spcBef>
                <a:spcPts val="0"/>
              </a:spcBef>
              <a:spcAft>
                <a:spcPts val="0"/>
              </a:spcAft>
              <a:buSzPts val="1800"/>
              <a:buChar char="●"/>
            </a:pPr>
            <a:r>
              <a:rPr lang="en"/>
              <a:t>Allocate a buffer fund for A/B testing AI tools, unforeseen technical expenses, or data protection compliance.</a:t>
            </a:r>
            <a:endParaRPr/>
          </a:p>
          <a:p>
            <a:pPr indent="-342900" lvl="0" marL="457200" rtl="0" algn="l">
              <a:lnSpc>
                <a:spcPct val="150000"/>
              </a:lnSpc>
              <a:spcBef>
                <a:spcPts val="0"/>
              </a:spcBef>
              <a:spcAft>
                <a:spcPts val="0"/>
              </a:spcAft>
              <a:buSzPts val="1800"/>
              <a:buChar char="●"/>
            </a:pPr>
            <a:r>
              <a:rPr lang="en"/>
              <a:t>Use continuous feedback loops to refine the dashboard metrics and investment priorities.</a:t>
            </a:r>
            <a:endParaRPr/>
          </a:p>
        </p:txBody>
      </p:sp>
      <p:sp>
        <p:nvSpPr>
          <p:cNvPr id="259" name="Google Shape;259;p45"/>
          <p:cNvSpPr txBox="1"/>
          <p:nvPr>
            <p:ph type="title"/>
          </p:nvPr>
        </p:nvSpPr>
        <p:spPr>
          <a:xfrm>
            <a:off x="311700" y="204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E69138"/>
                </a:solidFill>
              </a:rPr>
              <a:t>Solution to the goal ( continued ):</a:t>
            </a:r>
            <a:endParaRPr b="1">
              <a:solidFill>
                <a:srgbClr val="E69138"/>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46" title="Thank You Slide.jpg"/>
          <p:cNvPicPr preferRelativeResize="0"/>
          <p:nvPr/>
        </p:nvPicPr>
        <p:blipFill>
          <a:blip r:embed="rId3">
            <a:alphaModFix/>
          </a:blip>
          <a:stretch>
            <a:fillRect/>
          </a:stretch>
        </p:blipFill>
        <p:spPr>
          <a:xfrm>
            <a:off x="0" y="-7"/>
            <a:ext cx="9144000" cy="511920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